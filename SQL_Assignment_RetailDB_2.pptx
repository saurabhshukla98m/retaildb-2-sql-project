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11CA4234-F740-C939-54F0-B06E2C3BCC6E}">
          <p14:sldIdLst>
            <p14:sldId id="272"/>
            <p14:sldId id="256"/>
            <p14:sldId id="257"/>
          </p14:sldIdLst>
        </p14:section>
        <p14:section name="A. Normal Queries" id="{D6ADB9D0-3E94-0921-F3AC-2648B8089D17}">
          <p14:sldIdLst>
            <p14:sldId id="258"/>
            <p14:sldId id="259"/>
            <p14:sldId id="260"/>
            <p14:sldId id="261"/>
          </p14:sldIdLst>
        </p14:section>
        <p14:section name="B. Aggregations &amp; Group By" id="{5140B70F-4047-A104-2576-77A7535290CF}">
          <p14:sldIdLst>
            <p14:sldId id="262"/>
            <p14:sldId id="263"/>
            <p14:sldId id="264"/>
          </p14:sldIdLst>
        </p14:section>
        <p14:section name="C. Subqueries" id="{49D0AF2F-B850-0482-D2AA-01BDD033C202}">
          <p14:sldIdLst>
            <p14:sldId id="265"/>
            <p14:sldId id="266"/>
            <p14:sldId id="267"/>
          </p14:sldIdLst>
        </p14:section>
        <p14:section name="D. Advanced Filters" id="{DE0373BA-C652-839F-7E90-15B18A018E82}">
          <p14:sldIdLst>
            <p14:sldId id="268"/>
            <p14:sldId id="269"/>
            <p14:sldId id="270"/>
          </p14:sldIdLst>
        </p14:section>
        <p14:section name="Summary" id="{03B4EBAB-734C-422F-4D07-3CA59FEDA7B5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37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60350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57600"/>
            <a:ext cx="5669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1381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RetailDB_2  ·  SQL Assignment (Medium)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23BD01-4ECB-F33D-91AF-151616E1B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14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SQL Assignment – Medium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576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6"/>
                </a:solidFill>
              </a:rPr>
              <a:t>RetailDB_2: joins, aggregations, subqueries and filters, with output and insight for all 20 queries</a:t>
            </a:r>
            <a:endParaRPr lang="en-US" sz="2000" dirty="0"/>
          </a:p>
        </p:txBody>
      </p:sp>
      <p:sp>
        <p:nvSpPr>
          <p:cNvPr id="4" name="table chip Customers"/>
          <p:cNvSpPr/>
          <p:nvPr/>
        </p:nvSpPr>
        <p:spPr>
          <a:xfrm>
            <a:off x="7589520" y="1234440"/>
            <a:ext cx="3840480" cy="713232"/>
          </a:xfrm>
          <a:prstGeom prst="roundRect">
            <a:avLst>
              <a:gd name="adj" fmla="val 1282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able name Customers"/>
          <p:cNvSpPr txBox="1"/>
          <p:nvPr/>
        </p:nvSpPr>
        <p:spPr>
          <a:xfrm>
            <a:off x="7863840" y="123444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Customers</a:t>
            </a:r>
            <a:endParaRPr lang="en-US" sz="2000" dirty="0"/>
          </a:p>
        </p:txBody>
      </p:sp>
      <p:sp>
        <p:nvSpPr>
          <p:cNvPr id="6" name="dot Customers"/>
          <p:cNvSpPr/>
          <p:nvPr/>
        </p:nvSpPr>
        <p:spPr>
          <a:xfrm>
            <a:off x="10972800" y="1481328"/>
            <a:ext cx="219456" cy="219456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7" name="table chip Orders"/>
          <p:cNvSpPr/>
          <p:nvPr/>
        </p:nvSpPr>
        <p:spPr>
          <a:xfrm>
            <a:off x="7589520" y="2148840"/>
            <a:ext cx="3840480" cy="713232"/>
          </a:xfrm>
          <a:prstGeom prst="roundRect">
            <a:avLst>
              <a:gd name="adj" fmla="val 1282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able name Orders"/>
          <p:cNvSpPr txBox="1"/>
          <p:nvPr/>
        </p:nvSpPr>
        <p:spPr>
          <a:xfrm>
            <a:off x="7863840" y="214884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Orders</a:t>
            </a:r>
            <a:endParaRPr lang="en-US" sz="2000" dirty="0"/>
          </a:p>
        </p:txBody>
      </p:sp>
      <p:sp>
        <p:nvSpPr>
          <p:cNvPr id="9" name="dot Orders"/>
          <p:cNvSpPr/>
          <p:nvPr/>
        </p:nvSpPr>
        <p:spPr>
          <a:xfrm>
            <a:off x="10972800" y="2395728"/>
            <a:ext cx="219456" cy="219456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0" name="table chip Order_Items"/>
          <p:cNvSpPr/>
          <p:nvPr/>
        </p:nvSpPr>
        <p:spPr>
          <a:xfrm>
            <a:off x="7589520" y="3063240"/>
            <a:ext cx="3840480" cy="713232"/>
          </a:xfrm>
          <a:prstGeom prst="roundRect">
            <a:avLst>
              <a:gd name="adj" fmla="val 1282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able name Order_Items"/>
          <p:cNvSpPr txBox="1"/>
          <p:nvPr/>
        </p:nvSpPr>
        <p:spPr>
          <a:xfrm>
            <a:off x="7863840" y="306324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Order_Items</a:t>
            </a:r>
            <a:endParaRPr lang="en-US" sz="2000" dirty="0"/>
          </a:p>
        </p:txBody>
      </p:sp>
      <p:sp>
        <p:nvSpPr>
          <p:cNvPr id="12" name="dot Order_Items"/>
          <p:cNvSpPr/>
          <p:nvPr/>
        </p:nvSpPr>
        <p:spPr>
          <a:xfrm>
            <a:off x="10972800" y="3310128"/>
            <a:ext cx="219456" cy="219456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3" name="table chip Products"/>
          <p:cNvSpPr/>
          <p:nvPr/>
        </p:nvSpPr>
        <p:spPr>
          <a:xfrm>
            <a:off x="7589520" y="3977640"/>
            <a:ext cx="3840480" cy="713232"/>
          </a:xfrm>
          <a:prstGeom prst="roundRect">
            <a:avLst>
              <a:gd name="adj" fmla="val 1282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able name Products"/>
          <p:cNvSpPr txBox="1"/>
          <p:nvPr/>
        </p:nvSpPr>
        <p:spPr>
          <a:xfrm>
            <a:off x="7863840" y="397764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Products</a:t>
            </a:r>
            <a:endParaRPr lang="en-US" sz="2000" dirty="0"/>
          </a:p>
        </p:txBody>
      </p:sp>
      <p:sp>
        <p:nvSpPr>
          <p:cNvPr id="15" name="dot Products"/>
          <p:cNvSpPr/>
          <p:nvPr/>
        </p:nvSpPr>
        <p:spPr>
          <a:xfrm>
            <a:off x="10972800" y="4224528"/>
            <a:ext cx="219456" cy="219456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6" name="table chip Suppliers"/>
          <p:cNvSpPr/>
          <p:nvPr/>
        </p:nvSpPr>
        <p:spPr>
          <a:xfrm>
            <a:off x="7589520" y="4892040"/>
            <a:ext cx="3840480" cy="713232"/>
          </a:xfrm>
          <a:prstGeom prst="roundRect">
            <a:avLst>
              <a:gd name="adj" fmla="val 1282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able name Suppliers"/>
          <p:cNvSpPr txBox="1"/>
          <p:nvPr/>
        </p:nvSpPr>
        <p:spPr>
          <a:xfrm>
            <a:off x="7863840" y="489204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Suppliers</a:t>
            </a:r>
            <a:endParaRPr lang="en-US" sz="2000" dirty="0"/>
          </a:p>
        </p:txBody>
      </p:sp>
      <p:sp>
        <p:nvSpPr>
          <p:cNvPr id="18" name="dot Suppliers"/>
          <p:cNvSpPr/>
          <p:nvPr/>
        </p:nvSpPr>
        <p:spPr>
          <a:xfrm>
            <a:off x="10972800" y="5138928"/>
            <a:ext cx="219456" cy="219456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9" name="title footer"/>
          <p:cNvSpPr txBox="1"/>
          <p:nvPr/>
        </p:nvSpPr>
        <p:spPr>
          <a:xfrm>
            <a:off x="731520" y="5943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MySQL Workbench  ·  5 tables  ·  20 queries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Database Schema</a:t>
            </a:r>
            <a:endParaRPr lang="en-US" sz="2800" dirty="0"/>
          </a:p>
        </p:txBody>
      </p:sp>
      <p:graphicFrame>
        <p:nvGraphicFramePr>
          <p:cNvPr id="3" name="Supplier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2011680" cy="1737360"/>
        </p:xfrm>
        <a:graphic>
          <a:graphicData uri="http://schemas.openxmlformats.org/drawingml/2006/table">
            <a:tbl>
              <a:tblPr/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 grid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Suppliers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supplier_id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PK</a:t>
                      </a:r>
                      <a:endParaRPr lang="en-US" sz="1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supplier_name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contact_email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city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Produc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70632" y="1234440"/>
          <a:ext cx="2011680" cy="2432304"/>
        </p:xfrm>
        <a:graphic>
          <a:graphicData uri="http://schemas.openxmlformats.org/drawingml/2006/table">
            <a:tbl>
              <a:tblPr/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 grid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Products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product_id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PK</a:t>
                      </a:r>
                      <a:endParaRPr lang="en-US" sz="1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product_name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price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stock_qty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supplier_id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5"/>
                          </a:solidFill>
                        </a:rPr>
                        <a:t>FK</a:t>
                      </a:r>
                      <a:endParaRPr lang="en-US" sz="1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Order_Item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4" y="1234440"/>
          <a:ext cx="2011680" cy="2084832"/>
        </p:xfrm>
        <a:graphic>
          <a:graphicData uri="http://schemas.openxmlformats.org/drawingml/2006/table">
            <a:tbl>
              <a:tblPr/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 grid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Order_Items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order_item_id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PK</a:t>
                      </a:r>
                      <a:endParaRPr lang="en-US" sz="1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order_id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5"/>
                          </a:solidFill>
                        </a:rPr>
                        <a:t>FK</a:t>
                      </a:r>
                      <a:endParaRPr lang="en-US" sz="1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product_id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5"/>
                          </a:solidFill>
                        </a:rPr>
                        <a:t>FK</a:t>
                      </a:r>
                      <a:endParaRPr lang="en-US" sz="1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quantity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price_each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Order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97496" y="1234440"/>
          <a:ext cx="2011680" cy="2084832"/>
        </p:xfrm>
        <a:graphic>
          <a:graphicData uri="http://schemas.openxmlformats.org/drawingml/2006/table">
            <a:tbl>
              <a:tblPr/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 grid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Orders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order_id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PK</a:t>
                      </a:r>
                      <a:endParaRPr lang="en-US" sz="1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customer_id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5"/>
                          </a:solidFill>
                        </a:rPr>
                        <a:t>FK</a:t>
                      </a:r>
                      <a:endParaRPr lang="en-US" sz="1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order_date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total_amount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payment_mode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Customer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10928" y="1234440"/>
          <a:ext cx="2011680" cy="2084832"/>
        </p:xfrm>
        <a:graphic>
          <a:graphicData uri="http://schemas.openxmlformats.org/drawingml/2006/table">
            <a:tbl>
              <a:tblPr/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 grid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Customers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customer_id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PK</a:t>
                      </a:r>
                      <a:endParaRPr lang="en-US" sz="1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email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city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signup_date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arrow Suppliers to Products"/>
          <p:cNvSpPr/>
          <p:nvPr/>
        </p:nvSpPr>
        <p:spPr>
          <a:xfrm>
            <a:off x="2505456" y="1408176"/>
            <a:ext cx="22860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" name="arrow Products to Order_Items"/>
          <p:cNvSpPr/>
          <p:nvPr/>
        </p:nvSpPr>
        <p:spPr>
          <a:xfrm>
            <a:off x="4818888" y="1408176"/>
            <a:ext cx="22860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arrow Orders to Order_Items"/>
          <p:cNvSpPr/>
          <p:nvPr/>
        </p:nvSpPr>
        <p:spPr>
          <a:xfrm flipH="1">
            <a:off x="7132320" y="1408176"/>
            <a:ext cx="22860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arrow Customers to Orders"/>
          <p:cNvSpPr/>
          <p:nvPr/>
        </p:nvSpPr>
        <p:spPr>
          <a:xfrm flipH="1">
            <a:off x="9445752" y="1408176"/>
            <a:ext cx="22860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relation 1"/>
          <p:cNvSpPr/>
          <p:nvPr/>
        </p:nvSpPr>
        <p:spPr>
          <a:xfrm>
            <a:off x="457200" y="434340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13" name="relation title 1"/>
          <p:cNvSpPr txBox="1"/>
          <p:nvPr/>
        </p:nvSpPr>
        <p:spPr>
          <a:xfrm>
            <a:off x="640080" y="4507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Suppliers → Products</a:t>
            </a:r>
            <a:endParaRPr lang="en-US" sz="1400" dirty="0"/>
          </a:p>
        </p:txBody>
      </p:sp>
      <p:sp>
        <p:nvSpPr>
          <p:cNvPr id="14" name="relation text 1"/>
          <p:cNvSpPr txBox="1"/>
          <p:nvPr/>
        </p:nvSpPr>
        <p:spPr>
          <a:xfrm>
            <a:off x="640080" y="4937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supplier can supply many products (supplier_id).</a:t>
            </a:r>
            <a:endParaRPr lang="en-US" sz="1400" dirty="0"/>
          </a:p>
        </p:txBody>
      </p:sp>
      <p:sp>
        <p:nvSpPr>
          <p:cNvPr id="15" name="relation 2"/>
          <p:cNvSpPr/>
          <p:nvPr/>
        </p:nvSpPr>
        <p:spPr>
          <a:xfrm>
            <a:off x="3331159" y="434340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16" name="relation title 2"/>
          <p:cNvSpPr txBox="1"/>
          <p:nvPr/>
        </p:nvSpPr>
        <p:spPr>
          <a:xfrm>
            <a:off x="3514039" y="4507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Products → Order_Items</a:t>
            </a:r>
            <a:endParaRPr lang="en-US" sz="1400" dirty="0"/>
          </a:p>
        </p:txBody>
      </p:sp>
      <p:sp>
        <p:nvSpPr>
          <p:cNvPr id="17" name="relation text 2"/>
          <p:cNvSpPr txBox="1"/>
          <p:nvPr/>
        </p:nvSpPr>
        <p:spPr>
          <a:xfrm>
            <a:off x="3514039" y="4937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product can appear in many order lines (product_id).</a:t>
            </a:r>
            <a:endParaRPr lang="en-US" sz="1400" dirty="0"/>
          </a:p>
        </p:txBody>
      </p:sp>
      <p:sp>
        <p:nvSpPr>
          <p:cNvPr id="18" name="relation 3"/>
          <p:cNvSpPr/>
          <p:nvPr/>
        </p:nvSpPr>
        <p:spPr>
          <a:xfrm>
            <a:off x="6205118" y="434340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19" name="relation title 3"/>
          <p:cNvSpPr txBox="1"/>
          <p:nvPr/>
        </p:nvSpPr>
        <p:spPr>
          <a:xfrm>
            <a:off x="6387998" y="4507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Orders → Order_Items</a:t>
            </a:r>
            <a:endParaRPr lang="en-US" sz="1400" dirty="0"/>
          </a:p>
        </p:txBody>
      </p:sp>
      <p:sp>
        <p:nvSpPr>
          <p:cNvPr id="20" name="relation text 3"/>
          <p:cNvSpPr txBox="1"/>
          <p:nvPr/>
        </p:nvSpPr>
        <p:spPr>
          <a:xfrm>
            <a:off x="6387998" y="4937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order contains many order lines (order_id).</a:t>
            </a:r>
            <a:endParaRPr lang="en-US" sz="1400" dirty="0"/>
          </a:p>
        </p:txBody>
      </p:sp>
      <p:sp>
        <p:nvSpPr>
          <p:cNvPr id="21" name="relation 4"/>
          <p:cNvSpPr/>
          <p:nvPr/>
        </p:nvSpPr>
        <p:spPr>
          <a:xfrm>
            <a:off x="9079078" y="434340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22" name="relation title 4"/>
          <p:cNvSpPr txBox="1"/>
          <p:nvPr/>
        </p:nvSpPr>
        <p:spPr>
          <a:xfrm>
            <a:off x="9261958" y="4507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Customers → Orders</a:t>
            </a:r>
            <a:endParaRPr lang="en-US" sz="1400" dirty="0"/>
          </a:p>
        </p:txBody>
      </p:sp>
      <p:sp>
        <p:nvSpPr>
          <p:cNvPr id="23" name="relation text 4"/>
          <p:cNvSpPr txBox="1"/>
          <p:nvPr/>
        </p:nvSpPr>
        <p:spPr>
          <a:xfrm>
            <a:off x="9261958" y="4937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customer can place many orders (customer_id).</a:t>
            </a:r>
            <a:endParaRPr lang="en-US" sz="1400" dirty="0"/>
          </a:p>
        </p:txBody>
      </p:sp>
      <p:sp>
        <p:nvSpPr>
          <p:cNvPr id="24" name="schema legend"/>
          <p:cNvSpPr txBox="1"/>
          <p:nvPr/>
        </p:nvSpPr>
        <p:spPr>
          <a:xfrm>
            <a:off x="457200" y="5852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PK = primary key   FK = foreign key   Arrows point from the parent table to the child table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Q1 &amp; Q3 – INNER and RIGHT JOIN</a:t>
            </a:r>
            <a:endParaRPr lang="en-US" sz="2800" dirty="0"/>
          </a:p>
        </p:txBody>
      </p:sp>
      <p:sp>
        <p:nvSpPr>
          <p:cNvPr id="3" name="section tag"/>
          <p:cNvSpPr/>
          <p:nvPr/>
        </p:nvSpPr>
        <p:spPr>
          <a:xfrm>
            <a:off x="8732520" y="457200"/>
            <a:ext cx="2999232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section tag text"/>
          <p:cNvSpPr txBox="1"/>
          <p:nvPr/>
        </p:nvSpPr>
        <p:spPr>
          <a:xfrm>
            <a:off x="8732520" y="457200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 · NORMAL QUERIES</a:t>
            </a:r>
            <a:endParaRPr lang="en-US" sz="1000" dirty="0"/>
          </a:p>
        </p:txBody>
      </p:sp>
      <p:sp>
        <p:nvSpPr>
          <p:cNvPr id="5" name="Q1 card"/>
          <p:cNvSpPr/>
          <p:nvPr/>
        </p:nvSpPr>
        <p:spPr>
          <a:xfrm>
            <a:off x="457200" y="1188720"/>
            <a:ext cx="5500116" cy="5166360"/>
          </a:xfrm>
          <a:prstGeom prst="roundRect">
            <a:avLst>
              <a:gd name="adj" fmla="val 141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6" name="Q1 badge"/>
          <p:cNvSpPr/>
          <p:nvPr/>
        </p:nvSpPr>
        <p:spPr>
          <a:xfrm>
            <a:off x="685800" y="1444752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Q1 badge text"/>
          <p:cNvSpPr txBox="1"/>
          <p:nvPr/>
        </p:nvSpPr>
        <p:spPr>
          <a:xfrm>
            <a:off x="685800" y="14447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Q1</a:t>
            </a:r>
            <a:endParaRPr lang="en-US" sz="1200" dirty="0"/>
          </a:p>
        </p:txBody>
      </p:sp>
      <p:sp>
        <p:nvSpPr>
          <p:cNvPr id="8" name="Q1 title"/>
          <p:cNvSpPr txBox="1"/>
          <p:nvPr/>
        </p:nvSpPr>
        <p:spPr>
          <a:xfrm>
            <a:off x="1362456" y="1371600"/>
            <a:ext cx="4366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Products with their supplier name (INNER JOIN)</a:t>
            </a:r>
            <a:endParaRPr lang="en-US" sz="1400" dirty="0"/>
          </a:p>
        </p:txBody>
      </p:sp>
      <p:sp>
        <p:nvSpPr>
          <p:cNvPr id="9" name="Q1 code box"/>
          <p:cNvSpPr/>
          <p:nvPr/>
        </p:nvSpPr>
        <p:spPr>
          <a:xfrm>
            <a:off x="685800" y="1965960"/>
            <a:ext cx="5042916" cy="969264"/>
          </a:xfrm>
          <a:prstGeom prst="roundRect">
            <a:avLst>
              <a:gd name="adj" fmla="val 566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0" name="Q1 code"/>
          <p:cNvSpPr txBox="1"/>
          <p:nvPr/>
        </p:nvSpPr>
        <p:spPr>
          <a:xfrm>
            <a:off x="804672" y="2029968"/>
            <a:ext cx="48051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p.product_id, p.product_name, p.category,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p.price, p.stock_qty, s.supplier_name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Products 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Suppliers 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p.supplier_id = s.supplier_id;</a:t>
            </a:r>
            <a:endParaRPr lang="en-US" sz="1000" dirty="0"/>
          </a:p>
        </p:txBody>
      </p:sp>
      <p:sp>
        <p:nvSpPr>
          <p:cNvPr id="11" name="label OUTPUT"/>
          <p:cNvSpPr txBox="1"/>
          <p:nvPr/>
        </p:nvSpPr>
        <p:spPr>
          <a:xfrm>
            <a:off x="685800" y="3072384"/>
            <a:ext cx="50429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OUTPUT</a:t>
            </a:r>
            <a:endParaRPr lang="en-US" sz="1000" dirty="0"/>
          </a:p>
        </p:txBody>
      </p:sp>
      <p:sp>
        <p:nvSpPr>
          <p:cNvPr id="12" name="Q1 frame"/>
          <p:cNvSpPr/>
          <p:nvPr/>
        </p:nvSpPr>
        <p:spPr>
          <a:xfrm>
            <a:off x="685800" y="3300984"/>
            <a:ext cx="4066575" cy="1524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3" name="Q1 output" descr="Q1 output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337560"/>
            <a:ext cx="3993423" cy="1450848"/>
          </a:xfrm>
          <a:prstGeom prst="rect">
            <a:avLst/>
          </a:prstGeom>
        </p:spPr>
      </p:pic>
      <p:sp>
        <p:nvSpPr>
          <p:cNvPr id="14" name="label INSIGHT"/>
          <p:cNvSpPr txBox="1"/>
          <p:nvPr/>
        </p:nvSpPr>
        <p:spPr>
          <a:xfrm>
            <a:off x="685800" y="4962144"/>
            <a:ext cx="50429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INSIGHT</a:t>
            </a:r>
            <a:endParaRPr lang="en-US" sz="1000" dirty="0"/>
          </a:p>
        </p:txBody>
      </p:sp>
      <p:sp>
        <p:nvSpPr>
          <p:cNvPr id="15" name="Q1 insight"/>
          <p:cNvSpPr txBox="1"/>
          <p:nvPr/>
        </p:nvSpPr>
        <p:spPr>
          <a:xfrm>
            <a:off x="685800" y="5190744"/>
            <a:ext cx="5042916" cy="1027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All </a:t>
            </a:r>
            <a:r>
              <a:rPr lang="en-US" sz="1200" b="1" dirty="0">
                <a:solidFill>
                  <a:schemeClr val="tx1"/>
                </a:solidFill>
              </a:rPr>
              <a:t>10 products</a:t>
            </a:r>
            <a:r>
              <a:rPr lang="en-US" sz="1200" dirty="0">
                <a:solidFill>
                  <a:schemeClr val="tx1"/>
                </a:solidFill>
              </a:rPr>
              <a:t> are listed with a supplier, so every product is linked to a supplier.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Croma Electronics and Lifestyle Stores supply </a:t>
            </a:r>
            <a:r>
              <a:rPr lang="en-US" sz="1200" b="1" dirty="0">
                <a:solidFill>
                  <a:schemeClr val="tx1"/>
                </a:solidFill>
              </a:rPr>
              <a:t>2 products</a:t>
            </a:r>
            <a:r>
              <a:rPr lang="en-US" sz="1200" dirty="0">
                <a:solidFill>
                  <a:schemeClr val="tx1"/>
                </a:solidFill>
              </a:rPr>
              <a:t> each.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Electronics is the largest category with </a:t>
            </a:r>
            <a:r>
              <a:rPr lang="en-US" sz="1200" b="1" dirty="0">
                <a:solidFill>
                  <a:schemeClr val="tx1"/>
                </a:solidFill>
              </a:rPr>
              <a:t>4 products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  <a:endParaRPr lang="en-US" sz="1200" dirty="0"/>
          </a:p>
        </p:txBody>
      </p:sp>
      <p:sp>
        <p:nvSpPr>
          <p:cNvPr id="16" name="Q3 card"/>
          <p:cNvSpPr/>
          <p:nvPr/>
        </p:nvSpPr>
        <p:spPr>
          <a:xfrm>
            <a:off x="6231636" y="1188720"/>
            <a:ext cx="5500116" cy="5166360"/>
          </a:xfrm>
          <a:prstGeom prst="roundRect">
            <a:avLst>
              <a:gd name="adj" fmla="val 141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17" name="Q3 badge"/>
          <p:cNvSpPr/>
          <p:nvPr/>
        </p:nvSpPr>
        <p:spPr>
          <a:xfrm>
            <a:off x="6460236" y="1444752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8" name="Q3 badge text"/>
          <p:cNvSpPr txBox="1"/>
          <p:nvPr/>
        </p:nvSpPr>
        <p:spPr>
          <a:xfrm>
            <a:off x="6460236" y="14447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Q3</a:t>
            </a:r>
            <a:endParaRPr lang="en-US" sz="1200" dirty="0"/>
          </a:p>
        </p:txBody>
      </p:sp>
      <p:sp>
        <p:nvSpPr>
          <p:cNvPr id="19" name="Q3 title"/>
          <p:cNvSpPr txBox="1"/>
          <p:nvPr/>
        </p:nvSpPr>
        <p:spPr>
          <a:xfrm>
            <a:off x="7136892" y="1371600"/>
            <a:ext cx="4366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All suppliers and their products (RIGHT JOIN)</a:t>
            </a:r>
            <a:endParaRPr lang="en-US" sz="1400" dirty="0"/>
          </a:p>
        </p:txBody>
      </p:sp>
      <p:sp>
        <p:nvSpPr>
          <p:cNvPr id="20" name="Q3 code box"/>
          <p:cNvSpPr/>
          <p:nvPr/>
        </p:nvSpPr>
        <p:spPr>
          <a:xfrm>
            <a:off x="6460236" y="1965960"/>
            <a:ext cx="5042916" cy="969264"/>
          </a:xfrm>
          <a:prstGeom prst="roundRect">
            <a:avLst>
              <a:gd name="adj" fmla="val 566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1" name="Q3 code"/>
          <p:cNvSpPr txBox="1"/>
          <p:nvPr/>
        </p:nvSpPr>
        <p:spPr>
          <a:xfrm>
            <a:off x="6579108" y="2029968"/>
            <a:ext cx="48051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s.supplier_id, s.supplier_name,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p.product_id, p.product_name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Products 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Suppliers 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p.supplier_id = s.supplier_id;</a:t>
            </a:r>
            <a:endParaRPr lang="en-US" sz="1000" dirty="0"/>
          </a:p>
        </p:txBody>
      </p:sp>
      <p:sp>
        <p:nvSpPr>
          <p:cNvPr id="22" name="label OUTPUT"/>
          <p:cNvSpPr txBox="1"/>
          <p:nvPr/>
        </p:nvSpPr>
        <p:spPr>
          <a:xfrm>
            <a:off x="6460236" y="3072384"/>
            <a:ext cx="50429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OUTPUT</a:t>
            </a:r>
            <a:endParaRPr lang="en-US" sz="1000" dirty="0"/>
          </a:p>
        </p:txBody>
      </p:sp>
      <p:sp>
        <p:nvSpPr>
          <p:cNvPr id="23" name="Q3 frame"/>
          <p:cNvSpPr/>
          <p:nvPr/>
        </p:nvSpPr>
        <p:spPr>
          <a:xfrm>
            <a:off x="6460236" y="3300984"/>
            <a:ext cx="2816781" cy="133807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4" name="Q3 output" descr="Q3 output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2" y="3337560"/>
            <a:ext cx="2743629" cy="1264920"/>
          </a:xfrm>
          <a:prstGeom prst="rect">
            <a:avLst/>
          </a:prstGeom>
        </p:spPr>
      </p:pic>
      <p:sp>
        <p:nvSpPr>
          <p:cNvPr id="25" name="label INSIGHT"/>
          <p:cNvSpPr txBox="1"/>
          <p:nvPr/>
        </p:nvSpPr>
        <p:spPr>
          <a:xfrm>
            <a:off x="6460236" y="4776216"/>
            <a:ext cx="50429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INSIGHT</a:t>
            </a:r>
            <a:endParaRPr lang="en-US" sz="1000" dirty="0"/>
          </a:p>
        </p:txBody>
      </p:sp>
      <p:sp>
        <p:nvSpPr>
          <p:cNvPr id="26" name="Q3 insight"/>
          <p:cNvSpPr txBox="1"/>
          <p:nvPr/>
        </p:nvSpPr>
        <p:spPr>
          <a:xfrm>
            <a:off x="6460236" y="5004816"/>
            <a:ext cx="5042916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All </a:t>
            </a:r>
            <a:r>
              <a:rPr lang="en-US" sz="1200" b="1" dirty="0">
                <a:solidFill>
                  <a:schemeClr val="tx1"/>
                </a:solidFill>
              </a:rPr>
              <a:t>8 suppliers</a:t>
            </a:r>
            <a:r>
              <a:rPr lang="en-US" sz="1200" dirty="0">
                <a:solidFill>
                  <a:schemeClr val="tx1"/>
                </a:solidFill>
              </a:rPr>
              <a:t> are listed and none has a NULL product, so every supplier has at least one product.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Croma Electronics and Lifestyle Stores have 2 products each; the other six have 1.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The result matches Q1 (10 rows) because no supplier is without products.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Q2 – LEFT JOIN</a:t>
            </a:r>
            <a:endParaRPr lang="en-US" sz="2800" dirty="0"/>
          </a:p>
        </p:txBody>
      </p:sp>
      <p:sp>
        <p:nvSpPr>
          <p:cNvPr id="3" name="section tag"/>
          <p:cNvSpPr/>
          <p:nvPr/>
        </p:nvSpPr>
        <p:spPr>
          <a:xfrm>
            <a:off x="8732520" y="457200"/>
            <a:ext cx="2999232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section tag text"/>
          <p:cNvSpPr txBox="1"/>
          <p:nvPr/>
        </p:nvSpPr>
        <p:spPr>
          <a:xfrm>
            <a:off x="8732520" y="457200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 · NORMAL QUERIES</a:t>
            </a:r>
            <a:endParaRPr lang="en-US" sz="1000" dirty="0"/>
          </a:p>
        </p:txBody>
      </p:sp>
      <p:sp>
        <p:nvSpPr>
          <p:cNvPr id="5" name="Q2 left card"/>
          <p:cNvSpPr/>
          <p:nvPr/>
        </p:nvSpPr>
        <p:spPr>
          <a:xfrm>
            <a:off x="457200" y="1188720"/>
            <a:ext cx="5943600" cy="4983480"/>
          </a:xfrm>
          <a:prstGeom prst="roundRect">
            <a:avLst>
              <a:gd name="adj" fmla="val 146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6" name="Q2 badge"/>
          <p:cNvSpPr/>
          <p:nvPr/>
        </p:nvSpPr>
        <p:spPr>
          <a:xfrm>
            <a:off x="685800" y="1444752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Q2 badge text"/>
          <p:cNvSpPr txBox="1"/>
          <p:nvPr/>
        </p:nvSpPr>
        <p:spPr>
          <a:xfrm>
            <a:off x="685800" y="14447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Q2</a:t>
            </a:r>
            <a:endParaRPr lang="en-US" sz="1200" dirty="0"/>
          </a:p>
        </p:txBody>
      </p:sp>
      <p:sp>
        <p:nvSpPr>
          <p:cNvPr id="8" name="Q2 title"/>
          <p:cNvSpPr txBox="1"/>
          <p:nvPr/>
        </p:nvSpPr>
        <p:spPr>
          <a:xfrm>
            <a:off x="1362456" y="1371600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All customers and their orders (LEFT JOIN)</a:t>
            </a:r>
            <a:endParaRPr lang="en-US" sz="1500" dirty="0"/>
          </a:p>
        </p:txBody>
      </p:sp>
      <p:sp>
        <p:nvSpPr>
          <p:cNvPr id="9" name="Q2 code box"/>
          <p:cNvSpPr/>
          <p:nvPr/>
        </p:nvSpPr>
        <p:spPr>
          <a:xfrm>
            <a:off x="685800" y="2011680"/>
            <a:ext cx="5486400" cy="969264"/>
          </a:xfrm>
          <a:prstGeom prst="roundRect">
            <a:avLst>
              <a:gd name="adj" fmla="val 566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0" name="Q2 code"/>
          <p:cNvSpPr txBox="1"/>
          <p:nvPr/>
        </p:nvSpPr>
        <p:spPr>
          <a:xfrm>
            <a:off x="804672" y="2075688"/>
            <a:ext cx="5248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c.customer_id, c.name, o.order_id,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o.order_date, o.total_amount, o.payment_mode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Customers 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Orders 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c.customer_id = o.customer_id;</a:t>
            </a:r>
            <a:endParaRPr lang="en-US" sz="1000" dirty="0"/>
          </a:p>
        </p:txBody>
      </p:sp>
      <p:sp>
        <p:nvSpPr>
          <p:cNvPr id="11" name="label INSIGHT"/>
          <p:cNvSpPr txBox="1"/>
          <p:nvPr/>
        </p:nvSpPr>
        <p:spPr>
          <a:xfrm>
            <a:off x="685800" y="325526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INSIGHT</a:t>
            </a:r>
            <a:endParaRPr lang="en-US" sz="1000" dirty="0"/>
          </a:p>
        </p:txBody>
      </p:sp>
      <p:sp>
        <p:nvSpPr>
          <p:cNvPr id="12" name="Q2 insight"/>
          <p:cNvSpPr txBox="1"/>
          <p:nvPr/>
        </p:nvSpPr>
        <p:spPr>
          <a:xfrm>
            <a:off x="685800" y="3483864"/>
            <a:ext cx="5486400" cy="186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All </a:t>
            </a:r>
            <a:r>
              <a:rPr lang="en-US" sz="1400" b="1" dirty="0">
                <a:solidFill>
                  <a:schemeClr val="tx1"/>
                </a:solidFill>
              </a:rPr>
              <a:t>15 customers</a:t>
            </a:r>
            <a:r>
              <a:rPr lang="en-US" sz="1400" dirty="0">
                <a:solidFill>
                  <a:schemeClr val="tx1"/>
                </a:solidFill>
              </a:rPr>
              <a:t> appear and no row has a NULL order, so every customer has placed at least one order.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result has </a:t>
            </a:r>
            <a:r>
              <a:rPr lang="en-US" sz="1400" b="1" dirty="0">
                <a:solidFill>
                  <a:schemeClr val="tx1"/>
                </a:solidFill>
              </a:rPr>
              <a:t>50 rows</a:t>
            </a:r>
            <a:r>
              <a:rPr lang="en-US" sz="1400" dirty="0">
                <a:solidFill>
                  <a:schemeClr val="tx1"/>
                </a:solidFill>
              </a:rPr>
              <a:t>, which means 50 orders in total.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Vikram Joshi has the most orders (</a:t>
            </a:r>
            <a:r>
              <a:rPr lang="en-US" sz="1400" b="1" dirty="0">
                <a:solidFill>
                  <a:schemeClr val="tx1"/>
                </a:solidFill>
              </a:rPr>
              <a:t>5</a:t>
            </a:r>
            <a:r>
              <a:rPr lang="en-US" sz="1400" dirty="0">
                <a:solidFill>
                  <a:schemeClr val="tx1"/>
                </a:solidFill>
              </a:rPr>
              <a:t>); Rohit Kumar and Priya Reddy have the fewest (</a:t>
            </a:r>
            <a:r>
              <a:rPr lang="en-US" sz="1400" b="1" dirty="0">
                <a:solidFill>
                  <a:schemeClr val="tx1"/>
                </a:solidFill>
              </a:rPr>
              <a:t>2</a:t>
            </a:r>
            <a:r>
              <a:rPr lang="en-US" sz="1400" dirty="0">
                <a:solidFill>
                  <a:schemeClr val="tx1"/>
                </a:solidFill>
              </a:rPr>
              <a:t> each).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Five payment modes are used: UPI, Cash, Credit Card, Debit Card and Net Banking.</a:t>
            </a:r>
            <a:endParaRPr lang="en-US" sz="1400" dirty="0"/>
          </a:p>
        </p:txBody>
      </p:sp>
      <p:sp>
        <p:nvSpPr>
          <p:cNvPr id="13" name="Q2 right card"/>
          <p:cNvSpPr/>
          <p:nvPr/>
        </p:nvSpPr>
        <p:spPr>
          <a:xfrm>
            <a:off x="6675120" y="1188720"/>
            <a:ext cx="5056632" cy="4983480"/>
          </a:xfrm>
          <a:prstGeom prst="roundRect">
            <a:avLst>
              <a:gd name="adj" fmla="val 146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14" name="label OUTPUT"/>
          <p:cNvSpPr txBox="1"/>
          <p:nvPr/>
        </p:nvSpPr>
        <p:spPr>
          <a:xfrm>
            <a:off x="6903720" y="1371600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OUTPUT</a:t>
            </a:r>
            <a:endParaRPr lang="en-US" sz="1000" dirty="0"/>
          </a:p>
        </p:txBody>
      </p:sp>
      <p:sp>
        <p:nvSpPr>
          <p:cNvPr id="15" name="Q2 frame"/>
          <p:cNvSpPr/>
          <p:nvPr/>
        </p:nvSpPr>
        <p:spPr>
          <a:xfrm>
            <a:off x="6903720" y="1600200"/>
            <a:ext cx="4478826" cy="4279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6" name="Q2 output" descr="Q2 output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96" y="1636776"/>
            <a:ext cx="4405674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Q4 – FULL OUTER JOIN Simulation</a:t>
            </a:r>
            <a:endParaRPr lang="en-US" sz="2800" dirty="0"/>
          </a:p>
        </p:txBody>
      </p:sp>
      <p:sp>
        <p:nvSpPr>
          <p:cNvPr id="3" name="section tag"/>
          <p:cNvSpPr/>
          <p:nvPr/>
        </p:nvSpPr>
        <p:spPr>
          <a:xfrm>
            <a:off x="8732520" y="457200"/>
            <a:ext cx="2999232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section tag text"/>
          <p:cNvSpPr txBox="1"/>
          <p:nvPr/>
        </p:nvSpPr>
        <p:spPr>
          <a:xfrm>
            <a:off x="8732520" y="457200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 · NORMAL QUERIES</a:t>
            </a:r>
            <a:endParaRPr lang="en-US" sz="1000" dirty="0"/>
          </a:p>
        </p:txBody>
      </p:sp>
      <p:sp>
        <p:nvSpPr>
          <p:cNvPr id="5" name="Q4 left card"/>
          <p:cNvSpPr/>
          <p:nvPr/>
        </p:nvSpPr>
        <p:spPr>
          <a:xfrm>
            <a:off x="457200" y="1188720"/>
            <a:ext cx="5943600" cy="4983480"/>
          </a:xfrm>
          <a:prstGeom prst="roundRect">
            <a:avLst>
              <a:gd name="adj" fmla="val 146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6" name="Q4 badge"/>
          <p:cNvSpPr/>
          <p:nvPr/>
        </p:nvSpPr>
        <p:spPr>
          <a:xfrm>
            <a:off x="685800" y="1444752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Q4 badge text"/>
          <p:cNvSpPr txBox="1"/>
          <p:nvPr/>
        </p:nvSpPr>
        <p:spPr>
          <a:xfrm>
            <a:off x="685800" y="14447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Q4</a:t>
            </a:r>
            <a:endParaRPr lang="en-US" sz="1200" dirty="0"/>
          </a:p>
        </p:txBody>
      </p:sp>
      <p:sp>
        <p:nvSpPr>
          <p:cNvPr id="8" name="Q4 title"/>
          <p:cNvSpPr txBox="1"/>
          <p:nvPr/>
        </p:nvSpPr>
        <p:spPr>
          <a:xfrm>
            <a:off x="1362456" y="1371600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All customers and all orders (FULL OUTER JOIN using UNION)</a:t>
            </a:r>
            <a:endParaRPr lang="en-US" sz="1500" dirty="0"/>
          </a:p>
        </p:txBody>
      </p:sp>
      <p:sp>
        <p:nvSpPr>
          <p:cNvPr id="9" name="Q4 code box"/>
          <p:cNvSpPr/>
          <p:nvPr/>
        </p:nvSpPr>
        <p:spPr>
          <a:xfrm>
            <a:off x="685800" y="2011680"/>
            <a:ext cx="5486400" cy="1583741"/>
          </a:xfrm>
          <a:prstGeom prst="roundRect">
            <a:avLst>
              <a:gd name="adj" fmla="val 3464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0" name="Q4 code"/>
          <p:cNvSpPr txBox="1"/>
          <p:nvPr/>
        </p:nvSpPr>
        <p:spPr>
          <a:xfrm>
            <a:off x="804672" y="2075688"/>
            <a:ext cx="5248656" cy="145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c.customer_id, c.name, o.order_id,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o.order_date, o.total_amount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Customers 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Orders o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c.customer_id = o.customer_id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c.customer_id, c.name, o.order_id,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o.order_date, o.total_amount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Customers 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Orders o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c.customer_id = o.customer_id;</a:t>
            </a:r>
            <a:endParaRPr lang="en-US" sz="1000" dirty="0"/>
          </a:p>
        </p:txBody>
      </p:sp>
      <p:sp>
        <p:nvSpPr>
          <p:cNvPr id="11" name="label INSIGHT"/>
          <p:cNvSpPr txBox="1"/>
          <p:nvPr/>
        </p:nvSpPr>
        <p:spPr>
          <a:xfrm>
            <a:off x="685800" y="3869741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INSIGHT</a:t>
            </a:r>
            <a:endParaRPr lang="en-US" sz="1000" dirty="0"/>
          </a:p>
        </p:txBody>
      </p:sp>
      <p:sp>
        <p:nvSpPr>
          <p:cNvPr id="12" name="Q4 insight"/>
          <p:cNvSpPr txBox="1"/>
          <p:nvPr/>
        </p:nvSpPr>
        <p:spPr>
          <a:xfrm>
            <a:off x="685800" y="4098341"/>
            <a:ext cx="5486400" cy="1648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MySQL has no FULL OUTER JOIN, so a LEFT JOIN and a RIGHT JOIN are combined with UNION.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result has </a:t>
            </a:r>
            <a:r>
              <a:rPr lang="en-US" sz="1400" b="1" dirty="0">
                <a:solidFill>
                  <a:schemeClr val="tx1"/>
                </a:solidFill>
              </a:rPr>
              <a:t>50 rows</a:t>
            </a:r>
            <a:r>
              <a:rPr lang="en-US" sz="1400" dirty="0">
                <a:solidFill>
                  <a:schemeClr val="tx1"/>
                </a:solidFill>
              </a:rPr>
              <a:t>, the same as Q2, with no NULLs.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Every customer has orders and every order belongs to a customer, so the RIGHT JOIN adds nothing new.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UNION removes duplicates, so matching rows appear only once.</a:t>
            </a:r>
            <a:endParaRPr lang="en-US" sz="1400" dirty="0"/>
          </a:p>
        </p:txBody>
      </p:sp>
      <p:sp>
        <p:nvSpPr>
          <p:cNvPr id="13" name="Q4 right card"/>
          <p:cNvSpPr/>
          <p:nvPr/>
        </p:nvSpPr>
        <p:spPr>
          <a:xfrm>
            <a:off x="6675120" y="1188720"/>
            <a:ext cx="5056632" cy="4983480"/>
          </a:xfrm>
          <a:prstGeom prst="roundRect">
            <a:avLst>
              <a:gd name="adj" fmla="val 146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14" name="label OUTPUT"/>
          <p:cNvSpPr txBox="1"/>
          <p:nvPr/>
        </p:nvSpPr>
        <p:spPr>
          <a:xfrm>
            <a:off x="6903720" y="1371600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OUTPUT</a:t>
            </a:r>
            <a:endParaRPr lang="en-US" sz="1000" dirty="0"/>
          </a:p>
        </p:txBody>
      </p:sp>
      <p:sp>
        <p:nvSpPr>
          <p:cNvPr id="15" name="Q4 frame"/>
          <p:cNvSpPr/>
          <p:nvPr/>
        </p:nvSpPr>
        <p:spPr>
          <a:xfrm>
            <a:off x="6903720" y="1600200"/>
            <a:ext cx="3891720" cy="4279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6" name="Q4 output" descr="Q4 output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96" y="1636776"/>
            <a:ext cx="3818568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Q5 – Joins with Filters</a:t>
            </a:r>
            <a:endParaRPr lang="en-US" sz="2800" dirty="0"/>
          </a:p>
        </p:txBody>
      </p:sp>
      <p:sp>
        <p:nvSpPr>
          <p:cNvPr id="3" name="section tag"/>
          <p:cNvSpPr/>
          <p:nvPr/>
        </p:nvSpPr>
        <p:spPr>
          <a:xfrm>
            <a:off x="8732520" y="457200"/>
            <a:ext cx="2999232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section tag text"/>
          <p:cNvSpPr txBox="1"/>
          <p:nvPr/>
        </p:nvSpPr>
        <p:spPr>
          <a:xfrm>
            <a:off x="8732520" y="457200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 · NORMAL QUERIES</a:t>
            </a:r>
            <a:endParaRPr lang="en-US" sz="1000" dirty="0"/>
          </a:p>
        </p:txBody>
      </p:sp>
      <p:sp>
        <p:nvSpPr>
          <p:cNvPr id="5" name="Q5 left card"/>
          <p:cNvSpPr/>
          <p:nvPr/>
        </p:nvSpPr>
        <p:spPr>
          <a:xfrm>
            <a:off x="457200" y="1188720"/>
            <a:ext cx="5943600" cy="4463491"/>
          </a:xfrm>
          <a:prstGeom prst="roundRect">
            <a:avLst>
              <a:gd name="adj" fmla="val 163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6" name="Q5 badge"/>
          <p:cNvSpPr/>
          <p:nvPr/>
        </p:nvSpPr>
        <p:spPr>
          <a:xfrm>
            <a:off x="685800" y="1444752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Q5 badge text"/>
          <p:cNvSpPr txBox="1"/>
          <p:nvPr/>
        </p:nvSpPr>
        <p:spPr>
          <a:xfrm>
            <a:off x="685800" y="14447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Q5</a:t>
            </a:r>
            <a:endParaRPr lang="en-US" sz="1200" dirty="0"/>
          </a:p>
        </p:txBody>
      </p:sp>
      <p:sp>
        <p:nvSpPr>
          <p:cNvPr id="8" name="Q5 title"/>
          <p:cNvSpPr txBox="1"/>
          <p:nvPr/>
        </p:nvSpPr>
        <p:spPr>
          <a:xfrm>
            <a:off x="1362456" y="1371600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Products priced ₹5,000–₹50,000 from Mumbai suppliers</a:t>
            </a:r>
            <a:endParaRPr lang="en-US" sz="1500" dirty="0"/>
          </a:p>
        </p:txBody>
      </p:sp>
      <p:sp>
        <p:nvSpPr>
          <p:cNvPr id="9" name="Q5 code box"/>
          <p:cNvSpPr/>
          <p:nvPr/>
        </p:nvSpPr>
        <p:spPr>
          <a:xfrm>
            <a:off x="685800" y="2011680"/>
            <a:ext cx="5486400" cy="1122883"/>
          </a:xfrm>
          <a:prstGeom prst="roundRect">
            <a:avLst>
              <a:gd name="adj" fmla="val 4886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0" name="Q5 code"/>
          <p:cNvSpPr txBox="1"/>
          <p:nvPr/>
        </p:nvSpPr>
        <p:spPr>
          <a:xfrm>
            <a:off x="804672" y="2075688"/>
            <a:ext cx="5248656" cy="99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p.product_id, p.product_name, p.price,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s.supplier_name, s.city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Products 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Suppliers s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p.supplier_id = s.supplier_id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p.price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s.city =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'Mumbai'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1" name="label INSIGHT"/>
          <p:cNvSpPr txBox="1"/>
          <p:nvPr/>
        </p:nvSpPr>
        <p:spPr>
          <a:xfrm>
            <a:off x="685800" y="3408883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INSIGHT</a:t>
            </a:r>
            <a:endParaRPr lang="en-US" sz="1000" dirty="0"/>
          </a:p>
        </p:txBody>
      </p:sp>
      <p:sp>
        <p:nvSpPr>
          <p:cNvPr id="12" name="Q5 insight"/>
          <p:cNvSpPr txBox="1"/>
          <p:nvPr/>
        </p:nvSpPr>
        <p:spPr>
          <a:xfrm>
            <a:off x="685800" y="3637483"/>
            <a:ext cx="5486400" cy="1648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query returns </a:t>
            </a:r>
            <a:r>
              <a:rPr lang="en-US" sz="1400" b="1" dirty="0">
                <a:solidFill>
                  <a:schemeClr val="tx1"/>
                </a:solidFill>
              </a:rPr>
              <a:t>0 rows</a:t>
            </a:r>
            <a:r>
              <a:rPr lang="en-US" sz="1400" dirty="0">
                <a:solidFill>
                  <a:schemeClr val="tx1"/>
                </a:solidFill>
              </a:rPr>
              <a:t>, which is the correct result for this data.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Only one product is in the price range: Prestige Mixer Grinder (₹6,499), supplied by Tata Cliq, which is in </a:t>
            </a:r>
            <a:r>
              <a:rPr lang="en-US" sz="1400" b="1" dirty="0">
                <a:solidFill>
                  <a:schemeClr val="tx1"/>
                </a:solidFill>
              </a:rPr>
              <a:t>Pune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only Mumbai supplier, Reliance Digital, sells the iPhone 15 at ₹79,999, above the range.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 product satisfies both conditions together.</a:t>
            </a:r>
            <a:endParaRPr lang="en-US" sz="1400" dirty="0"/>
          </a:p>
        </p:txBody>
      </p:sp>
      <p:sp>
        <p:nvSpPr>
          <p:cNvPr id="13" name="Q5 right card"/>
          <p:cNvSpPr/>
          <p:nvPr/>
        </p:nvSpPr>
        <p:spPr>
          <a:xfrm>
            <a:off x="6675120" y="1188720"/>
            <a:ext cx="5056632" cy="4463491"/>
          </a:xfrm>
          <a:prstGeom prst="roundRect">
            <a:avLst>
              <a:gd name="adj" fmla="val 163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14" name="label OUTPUT (EMPTY RESULT)"/>
          <p:cNvSpPr txBox="1"/>
          <p:nvPr/>
        </p:nvSpPr>
        <p:spPr>
          <a:xfrm>
            <a:off x="6903720" y="1371600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OUTPUT (EMPTY RESULT)</a:t>
            </a:r>
            <a:endParaRPr lang="en-US" sz="1000" dirty="0"/>
          </a:p>
        </p:txBody>
      </p:sp>
      <p:graphicFrame>
        <p:nvGraphicFramePr>
          <p:cNvPr id="15" name="Q5 empty resul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600200"/>
          <a:ext cx="4599432" cy="585216"/>
        </p:xfrm>
        <a:graphic>
          <a:graphicData uri="http://schemas.openxmlformats.org/drawingml/2006/table">
            <a:tbl>
              <a:tblPr/>
              <a:tblGrid>
                <a:gridCol w="1006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6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17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49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product_id</a:t>
                      </a:r>
                      <a:endParaRPr lang="en-US" sz="10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product_name</a:t>
                      </a:r>
                      <a:endParaRPr lang="en-US" sz="10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price</a:t>
                      </a:r>
                      <a:endParaRPr lang="en-US" sz="10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supplier_name</a:t>
                      </a:r>
                      <a:endParaRPr lang="en-US" sz="10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city</a:t>
                      </a:r>
                      <a:endParaRPr lang="en-US" sz="10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chemeClr val="accent5"/>
                          </a:solidFill>
                        </a:rPr>
                        <a:t>0 row(s) returned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label CHECK: SUPPLIERS TABLE"/>
          <p:cNvSpPr txBox="1"/>
          <p:nvPr/>
        </p:nvSpPr>
        <p:spPr>
          <a:xfrm>
            <a:off x="6903720" y="2459736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CHECK: SUPPLIERS TABLE</a:t>
            </a:r>
            <a:endParaRPr lang="en-US" sz="1000" dirty="0"/>
          </a:p>
        </p:txBody>
      </p:sp>
      <p:sp>
        <p:nvSpPr>
          <p:cNvPr id="17" name="Q5 check frame"/>
          <p:cNvSpPr/>
          <p:nvPr/>
        </p:nvSpPr>
        <p:spPr>
          <a:xfrm>
            <a:off x="6903720" y="2688336"/>
            <a:ext cx="3394520" cy="258775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8" name="Q5 check output" descr="Q5 check output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96" y="2724912"/>
            <a:ext cx="3321368" cy="2514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Q6 &amp; Q7 – Order Counts and Supplier Sales</a:t>
            </a:r>
            <a:endParaRPr lang="en-US" sz="2800" dirty="0"/>
          </a:p>
        </p:txBody>
      </p:sp>
      <p:sp>
        <p:nvSpPr>
          <p:cNvPr id="3" name="section tag"/>
          <p:cNvSpPr/>
          <p:nvPr/>
        </p:nvSpPr>
        <p:spPr>
          <a:xfrm>
            <a:off x="8732520" y="457200"/>
            <a:ext cx="2999232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section tag text"/>
          <p:cNvSpPr txBox="1"/>
          <p:nvPr/>
        </p:nvSpPr>
        <p:spPr>
          <a:xfrm>
            <a:off x="8732520" y="457200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B · AGGREGATIONS &amp; GROUP BY</a:t>
            </a:r>
            <a:endParaRPr lang="en-US" sz="1000" dirty="0"/>
          </a:p>
        </p:txBody>
      </p:sp>
      <p:sp>
        <p:nvSpPr>
          <p:cNvPr id="5" name="Q6 card"/>
          <p:cNvSpPr/>
          <p:nvPr/>
        </p:nvSpPr>
        <p:spPr>
          <a:xfrm>
            <a:off x="457200" y="1188720"/>
            <a:ext cx="5500116" cy="5093707"/>
          </a:xfrm>
          <a:prstGeom prst="roundRect">
            <a:avLst>
              <a:gd name="adj" fmla="val 143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6" name="Q6 badge"/>
          <p:cNvSpPr/>
          <p:nvPr/>
        </p:nvSpPr>
        <p:spPr>
          <a:xfrm>
            <a:off x="685800" y="1444752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Q6 badge text"/>
          <p:cNvSpPr txBox="1"/>
          <p:nvPr/>
        </p:nvSpPr>
        <p:spPr>
          <a:xfrm>
            <a:off x="685800" y="14447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Q6</a:t>
            </a:r>
            <a:endParaRPr lang="en-US" sz="1200" dirty="0"/>
          </a:p>
        </p:txBody>
      </p:sp>
      <p:sp>
        <p:nvSpPr>
          <p:cNvPr id="8" name="Q6 title"/>
          <p:cNvSpPr txBox="1"/>
          <p:nvPr/>
        </p:nvSpPr>
        <p:spPr>
          <a:xfrm>
            <a:off x="1362456" y="1371600"/>
            <a:ext cx="4366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Customers with more than 2 orders (GROUP BY + HAVING)</a:t>
            </a:r>
            <a:endParaRPr lang="en-US" sz="1400" dirty="0"/>
          </a:p>
        </p:txBody>
      </p:sp>
      <p:sp>
        <p:nvSpPr>
          <p:cNvPr id="9" name="Q6 code box"/>
          <p:cNvSpPr/>
          <p:nvPr/>
        </p:nvSpPr>
        <p:spPr>
          <a:xfrm>
            <a:off x="685800" y="1965960"/>
            <a:ext cx="5042916" cy="1122883"/>
          </a:xfrm>
          <a:prstGeom prst="roundRect">
            <a:avLst>
              <a:gd name="adj" fmla="val 4886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0" name="Q6 code"/>
          <p:cNvSpPr txBox="1"/>
          <p:nvPr/>
        </p:nvSpPr>
        <p:spPr>
          <a:xfrm>
            <a:off x="804672" y="2029968"/>
            <a:ext cx="4805172" cy="99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c.customer_id, c.name,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(o.order_id)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total_orders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Customers 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Orders o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c.customer_id = o.customer_id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c.customer_id, c.name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(o.order_id) &gt;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1" name="label OUTPUT"/>
          <p:cNvSpPr txBox="1"/>
          <p:nvPr/>
        </p:nvSpPr>
        <p:spPr>
          <a:xfrm>
            <a:off x="2729484" y="3226003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OUTPUT</a:t>
            </a:r>
            <a:endParaRPr lang="en-US" sz="1000" dirty="0"/>
          </a:p>
        </p:txBody>
      </p:sp>
      <p:sp>
        <p:nvSpPr>
          <p:cNvPr id="12" name="Q6 frame"/>
          <p:cNvSpPr/>
          <p:nvPr/>
        </p:nvSpPr>
        <p:spPr>
          <a:xfrm>
            <a:off x="2729484" y="3454603"/>
            <a:ext cx="2999232" cy="269066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3" name="Q6 output" descr="Q6 output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3491179"/>
            <a:ext cx="2926080" cy="2617512"/>
          </a:xfrm>
          <a:prstGeom prst="rect">
            <a:avLst/>
          </a:prstGeom>
        </p:spPr>
      </p:pic>
      <p:sp>
        <p:nvSpPr>
          <p:cNvPr id="14" name="label INSIGHT"/>
          <p:cNvSpPr txBox="1"/>
          <p:nvPr/>
        </p:nvSpPr>
        <p:spPr>
          <a:xfrm>
            <a:off x="685800" y="3226003"/>
            <a:ext cx="17967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INSIGHT</a:t>
            </a:r>
            <a:endParaRPr lang="en-US" sz="1000" dirty="0"/>
          </a:p>
        </p:txBody>
      </p:sp>
      <p:sp>
        <p:nvSpPr>
          <p:cNvPr id="15" name="Q6 insight"/>
          <p:cNvSpPr txBox="1"/>
          <p:nvPr/>
        </p:nvSpPr>
        <p:spPr>
          <a:xfrm>
            <a:off x="685800" y="3454603"/>
            <a:ext cx="1796796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13 of 15</a:t>
            </a:r>
            <a:r>
              <a:rPr lang="en-US" sz="1200" dirty="0">
                <a:solidFill>
                  <a:schemeClr val="tx1"/>
                </a:solidFill>
              </a:rPr>
              <a:t> customers have more than 2 orders.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Vikram Joshi leads with 5 orders; five customers have 4 and seven have 3.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Rohit Kumar and Priya Reddy (2 orders each) are filtered out by HAVING.</a:t>
            </a:r>
            <a:endParaRPr lang="en-US" sz="1200" dirty="0"/>
          </a:p>
        </p:txBody>
      </p:sp>
      <p:sp>
        <p:nvSpPr>
          <p:cNvPr id="16" name="Q7 card"/>
          <p:cNvSpPr/>
          <p:nvPr/>
        </p:nvSpPr>
        <p:spPr>
          <a:xfrm>
            <a:off x="6231636" y="1188720"/>
            <a:ext cx="5500116" cy="5093707"/>
          </a:xfrm>
          <a:prstGeom prst="roundRect">
            <a:avLst>
              <a:gd name="adj" fmla="val 143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17" name="Q7 badge"/>
          <p:cNvSpPr/>
          <p:nvPr/>
        </p:nvSpPr>
        <p:spPr>
          <a:xfrm>
            <a:off x="6460236" y="1444752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8" name="Q7 badge text"/>
          <p:cNvSpPr txBox="1"/>
          <p:nvPr/>
        </p:nvSpPr>
        <p:spPr>
          <a:xfrm>
            <a:off x="6460236" y="14447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Q7</a:t>
            </a:r>
            <a:endParaRPr lang="en-US" sz="1200" dirty="0"/>
          </a:p>
        </p:txBody>
      </p:sp>
      <p:sp>
        <p:nvSpPr>
          <p:cNvPr id="19" name="Q7 title"/>
          <p:cNvSpPr txBox="1"/>
          <p:nvPr/>
        </p:nvSpPr>
        <p:spPr>
          <a:xfrm>
            <a:off x="7136892" y="1371600"/>
            <a:ext cx="4366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Total sales value per supplier (quantity × price_each)</a:t>
            </a:r>
            <a:endParaRPr lang="en-US" sz="1400" dirty="0"/>
          </a:p>
        </p:txBody>
      </p:sp>
      <p:sp>
        <p:nvSpPr>
          <p:cNvPr id="20" name="Q7 code box"/>
          <p:cNvSpPr/>
          <p:nvPr/>
        </p:nvSpPr>
        <p:spPr>
          <a:xfrm>
            <a:off x="6460236" y="1965960"/>
            <a:ext cx="5042916" cy="1276502"/>
          </a:xfrm>
          <a:prstGeom prst="roundRect">
            <a:avLst>
              <a:gd name="adj" fmla="val 4298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1" name="Q7 code"/>
          <p:cNvSpPr txBox="1"/>
          <p:nvPr/>
        </p:nvSpPr>
        <p:spPr>
          <a:xfrm>
            <a:off x="6579108" y="2029968"/>
            <a:ext cx="4805172" cy="1148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s.supplier_id, s.supplier_name,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(oi.quantity * oi.price_each)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total_sales_value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Suppliers 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Products p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s.supplier_id = p.supplier_id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Order_Items oi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p.product_id = oi.product_id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s.supplier_id, s.supplier_name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total_sales_value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22" name="label OUTPUT"/>
          <p:cNvSpPr txBox="1"/>
          <p:nvPr/>
        </p:nvSpPr>
        <p:spPr>
          <a:xfrm>
            <a:off x="8503920" y="337962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OUTPUT</a:t>
            </a:r>
            <a:endParaRPr lang="en-US" sz="1000" dirty="0"/>
          </a:p>
        </p:txBody>
      </p:sp>
      <p:sp>
        <p:nvSpPr>
          <p:cNvPr id="23" name="Q7 frame"/>
          <p:cNvSpPr/>
          <p:nvPr/>
        </p:nvSpPr>
        <p:spPr>
          <a:xfrm>
            <a:off x="8503920" y="3608222"/>
            <a:ext cx="2999232" cy="169041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4" name="Q7 output" descr="Q7 output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496" y="3644798"/>
            <a:ext cx="2926080" cy="1617264"/>
          </a:xfrm>
          <a:prstGeom prst="rect">
            <a:avLst/>
          </a:prstGeom>
        </p:spPr>
      </p:pic>
      <p:sp>
        <p:nvSpPr>
          <p:cNvPr id="25" name="label INSIGHT"/>
          <p:cNvSpPr txBox="1"/>
          <p:nvPr/>
        </p:nvSpPr>
        <p:spPr>
          <a:xfrm>
            <a:off x="6460236" y="3379622"/>
            <a:ext cx="17967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INSIGHT</a:t>
            </a:r>
            <a:endParaRPr lang="en-US" sz="1000" dirty="0"/>
          </a:p>
        </p:txBody>
      </p:sp>
      <p:sp>
        <p:nvSpPr>
          <p:cNvPr id="26" name="Q7 insight"/>
          <p:cNvSpPr txBox="1"/>
          <p:nvPr/>
        </p:nvSpPr>
        <p:spPr>
          <a:xfrm>
            <a:off x="6460236" y="3608222"/>
            <a:ext cx="1796796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Croma Electronics leads with </a:t>
            </a:r>
            <a:r>
              <a:rPr lang="en-US" sz="1200" b="1" dirty="0">
                <a:solidFill>
                  <a:schemeClr val="tx1"/>
                </a:solidFill>
              </a:rPr>
              <a:t>₹7,95,987</a:t>
            </a:r>
            <a:r>
              <a:rPr lang="en-US" sz="1200" dirty="0">
                <a:solidFill>
                  <a:schemeClr val="tx1"/>
                </a:solidFill>
              </a:rPr>
              <a:t>, about half of all supplier sales.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Reliance Digital (₹3,99,995) and Vijay Sales (₹2,39,996) come next.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Metro Electronics is lowest at ₹10,493 (only the Philips Trimmer).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Q8 &amp; Q9 – Category Prices and Top Spenders</a:t>
            </a:r>
            <a:endParaRPr lang="en-US" sz="2800" dirty="0"/>
          </a:p>
        </p:txBody>
      </p:sp>
      <p:sp>
        <p:nvSpPr>
          <p:cNvPr id="3" name="section tag"/>
          <p:cNvSpPr/>
          <p:nvPr/>
        </p:nvSpPr>
        <p:spPr>
          <a:xfrm>
            <a:off x="8732520" y="457200"/>
            <a:ext cx="2999232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section tag text"/>
          <p:cNvSpPr txBox="1"/>
          <p:nvPr/>
        </p:nvSpPr>
        <p:spPr>
          <a:xfrm>
            <a:off x="8732520" y="457200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B · AGGREGATIONS &amp; GROUP BY</a:t>
            </a:r>
            <a:endParaRPr lang="en-US" sz="1000" dirty="0"/>
          </a:p>
        </p:txBody>
      </p:sp>
      <p:sp>
        <p:nvSpPr>
          <p:cNvPr id="5" name="Q8 card"/>
          <p:cNvSpPr/>
          <p:nvPr/>
        </p:nvSpPr>
        <p:spPr>
          <a:xfrm>
            <a:off x="457200" y="1188720"/>
            <a:ext cx="5500116" cy="5166360"/>
          </a:xfrm>
          <a:prstGeom prst="roundRect">
            <a:avLst>
              <a:gd name="adj" fmla="val 141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6" name="Q8 badge"/>
          <p:cNvSpPr/>
          <p:nvPr/>
        </p:nvSpPr>
        <p:spPr>
          <a:xfrm>
            <a:off x="685800" y="1444752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Q8 badge text"/>
          <p:cNvSpPr txBox="1"/>
          <p:nvPr/>
        </p:nvSpPr>
        <p:spPr>
          <a:xfrm>
            <a:off x="685800" y="14447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Q8</a:t>
            </a:r>
            <a:endParaRPr lang="en-US" sz="1200" dirty="0"/>
          </a:p>
        </p:txBody>
      </p:sp>
      <p:sp>
        <p:nvSpPr>
          <p:cNvPr id="8" name="Q8 title"/>
          <p:cNvSpPr txBox="1"/>
          <p:nvPr/>
        </p:nvSpPr>
        <p:spPr>
          <a:xfrm>
            <a:off x="1362456" y="1371600"/>
            <a:ext cx="4366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Average, highest and lowest price per category</a:t>
            </a:r>
            <a:endParaRPr lang="en-US" sz="1400" dirty="0"/>
          </a:p>
        </p:txBody>
      </p:sp>
      <p:sp>
        <p:nvSpPr>
          <p:cNvPr id="9" name="Q8 code box"/>
          <p:cNvSpPr/>
          <p:nvPr/>
        </p:nvSpPr>
        <p:spPr>
          <a:xfrm>
            <a:off x="685800" y="1965960"/>
            <a:ext cx="5042916" cy="1122883"/>
          </a:xfrm>
          <a:prstGeom prst="roundRect">
            <a:avLst>
              <a:gd name="adj" fmla="val 4886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0" name="Q8 code"/>
          <p:cNvSpPr txBox="1"/>
          <p:nvPr/>
        </p:nvSpPr>
        <p:spPr>
          <a:xfrm>
            <a:off x="804672" y="2029968"/>
            <a:ext cx="4805172" cy="99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category,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(price),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avg_price,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(price)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highest_price,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(price)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lowest_price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category;</a:t>
            </a:r>
            <a:endParaRPr lang="en-US" sz="1000" dirty="0"/>
          </a:p>
        </p:txBody>
      </p:sp>
      <p:sp>
        <p:nvSpPr>
          <p:cNvPr id="11" name="label OUTPUT"/>
          <p:cNvSpPr txBox="1"/>
          <p:nvPr/>
        </p:nvSpPr>
        <p:spPr>
          <a:xfrm>
            <a:off x="685800" y="3226003"/>
            <a:ext cx="50429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OUTPUT</a:t>
            </a:r>
            <a:endParaRPr lang="en-US" sz="1000" dirty="0"/>
          </a:p>
        </p:txBody>
      </p:sp>
      <p:sp>
        <p:nvSpPr>
          <p:cNvPr id="12" name="Q8 frame"/>
          <p:cNvSpPr/>
          <p:nvPr/>
        </p:nvSpPr>
        <p:spPr>
          <a:xfrm>
            <a:off x="685800" y="3454603"/>
            <a:ext cx="2979631" cy="1184453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3" name="Q8 output" descr="Q8 output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491179"/>
            <a:ext cx="2906479" cy="1111301"/>
          </a:xfrm>
          <a:prstGeom prst="rect">
            <a:avLst/>
          </a:prstGeom>
        </p:spPr>
      </p:pic>
      <p:sp>
        <p:nvSpPr>
          <p:cNvPr id="14" name="label INSIGHT"/>
          <p:cNvSpPr txBox="1"/>
          <p:nvPr/>
        </p:nvSpPr>
        <p:spPr>
          <a:xfrm>
            <a:off x="685800" y="4776216"/>
            <a:ext cx="50429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INSIGHT</a:t>
            </a:r>
            <a:endParaRPr lang="en-US" sz="1000" dirty="0"/>
          </a:p>
        </p:txBody>
      </p:sp>
      <p:sp>
        <p:nvSpPr>
          <p:cNvPr id="15" name="Q8 insight"/>
          <p:cNvSpPr txBox="1"/>
          <p:nvPr/>
        </p:nvSpPr>
        <p:spPr>
          <a:xfrm>
            <a:off x="685800" y="5004816"/>
            <a:ext cx="5042916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Electronics has the highest average price, </a:t>
            </a:r>
            <a:r>
              <a:rPr lang="en-US" sz="1200" b="1" dirty="0">
                <a:solidFill>
                  <a:schemeClr val="tx1"/>
                </a:solidFill>
              </a:rPr>
              <a:t>₹67,749</a:t>
            </a:r>
            <a:r>
              <a:rPr lang="en-US" sz="1200" dirty="0">
                <a:solidFill>
                  <a:schemeClr val="tx1"/>
                </a:solidFill>
              </a:rPr>
              <a:t>, ranging from ₹55,999 to ₹79,999.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Personal Care has the lowest average at ₹1,499.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Home Appliances and Personal Care have one product each, so their average, highest and lowest are equal.</a:t>
            </a:r>
            <a:endParaRPr lang="en-US" sz="1200" dirty="0"/>
          </a:p>
        </p:txBody>
      </p:sp>
      <p:sp>
        <p:nvSpPr>
          <p:cNvPr id="16" name="Q9 card"/>
          <p:cNvSpPr/>
          <p:nvPr/>
        </p:nvSpPr>
        <p:spPr>
          <a:xfrm>
            <a:off x="6231636" y="1188720"/>
            <a:ext cx="5500116" cy="5166360"/>
          </a:xfrm>
          <a:prstGeom prst="roundRect">
            <a:avLst>
              <a:gd name="adj" fmla="val 141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17" name="Q9 badge"/>
          <p:cNvSpPr/>
          <p:nvPr/>
        </p:nvSpPr>
        <p:spPr>
          <a:xfrm>
            <a:off x="6460236" y="1444752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8" name="Q9 badge text"/>
          <p:cNvSpPr txBox="1"/>
          <p:nvPr/>
        </p:nvSpPr>
        <p:spPr>
          <a:xfrm>
            <a:off x="6460236" y="14447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Q9</a:t>
            </a:r>
            <a:endParaRPr lang="en-US" sz="1200" dirty="0"/>
          </a:p>
        </p:txBody>
      </p:sp>
      <p:sp>
        <p:nvSpPr>
          <p:cNvPr id="19" name="Q9 title"/>
          <p:cNvSpPr txBox="1"/>
          <p:nvPr/>
        </p:nvSpPr>
        <p:spPr>
          <a:xfrm>
            <a:off x="7136892" y="1371600"/>
            <a:ext cx="4366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Top 5 customers by total spending</a:t>
            </a:r>
            <a:endParaRPr lang="en-US" sz="1400" dirty="0"/>
          </a:p>
        </p:txBody>
      </p:sp>
      <p:sp>
        <p:nvSpPr>
          <p:cNvPr id="20" name="Q9 code box"/>
          <p:cNvSpPr/>
          <p:nvPr/>
        </p:nvSpPr>
        <p:spPr>
          <a:xfrm>
            <a:off x="6460236" y="1965960"/>
            <a:ext cx="5042916" cy="1276502"/>
          </a:xfrm>
          <a:prstGeom prst="roundRect">
            <a:avLst>
              <a:gd name="adj" fmla="val 4298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1" name="Q9 code"/>
          <p:cNvSpPr txBox="1"/>
          <p:nvPr/>
        </p:nvSpPr>
        <p:spPr>
          <a:xfrm>
            <a:off x="6579108" y="2029968"/>
            <a:ext cx="4805172" cy="1148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c.customer_id, c.name,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(o.total_amount)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total_spent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Customers 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Orders o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c.customer_id = o.customer_id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c.customer_id, c.name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total_spent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22" name="label OUTPUT"/>
          <p:cNvSpPr txBox="1"/>
          <p:nvPr/>
        </p:nvSpPr>
        <p:spPr>
          <a:xfrm>
            <a:off x="6460236" y="3379622"/>
            <a:ext cx="50429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OUTPUT</a:t>
            </a:r>
            <a:endParaRPr lang="en-US" sz="1000" dirty="0"/>
          </a:p>
        </p:txBody>
      </p:sp>
      <p:sp>
        <p:nvSpPr>
          <p:cNvPr id="23" name="Q9 frame"/>
          <p:cNvSpPr/>
          <p:nvPr/>
        </p:nvSpPr>
        <p:spPr>
          <a:xfrm>
            <a:off x="6460236" y="3608222"/>
            <a:ext cx="2129569" cy="103083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4" name="Q9 output" descr="Q9 output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2" y="3644798"/>
            <a:ext cx="2056417" cy="957682"/>
          </a:xfrm>
          <a:prstGeom prst="rect">
            <a:avLst/>
          </a:prstGeom>
        </p:spPr>
      </p:pic>
      <p:sp>
        <p:nvSpPr>
          <p:cNvPr id="25" name="label INSIGHT"/>
          <p:cNvSpPr txBox="1"/>
          <p:nvPr/>
        </p:nvSpPr>
        <p:spPr>
          <a:xfrm>
            <a:off x="6460236" y="4776216"/>
            <a:ext cx="50429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INSIGHT</a:t>
            </a:r>
            <a:endParaRPr lang="en-US" sz="1000" dirty="0"/>
          </a:p>
        </p:txBody>
      </p:sp>
      <p:sp>
        <p:nvSpPr>
          <p:cNvPr id="26" name="Q9 insight"/>
          <p:cNvSpPr txBox="1"/>
          <p:nvPr/>
        </p:nvSpPr>
        <p:spPr>
          <a:xfrm>
            <a:off x="6460236" y="5004816"/>
            <a:ext cx="5042916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Ritika Gupta is the top spender at </a:t>
            </a:r>
            <a:r>
              <a:rPr lang="en-US" sz="1200" b="1" dirty="0">
                <a:solidFill>
                  <a:schemeClr val="tx1"/>
                </a:solidFill>
              </a:rPr>
              <a:t>₹2,59,996</a:t>
            </a:r>
            <a:r>
              <a:rPr lang="en-US" sz="1200" dirty="0">
                <a:solidFill>
                  <a:schemeClr val="tx1"/>
                </a:solidFill>
              </a:rPr>
              <a:t>, just ahead of Vikram Joshi (₹2,55,994).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Vikram placed more orders (5 vs 4) but spent less, so order value matters more than order count.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Aditya Jain, Sneha Sharma and Suresh Iyer complete the top 5.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Q10 – Unique Products per Customer</a:t>
            </a:r>
            <a:endParaRPr lang="en-US" sz="2800" dirty="0"/>
          </a:p>
        </p:txBody>
      </p:sp>
      <p:sp>
        <p:nvSpPr>
          <p:cNvPr id="3" name="section tag"/>
          <p:cNvSpPr/>
          <p:nvPr/>
        </p:nvSpPr>
        <p:spPr>
          <a:xfrm>
            <a:off x="8732520" y="457200"/>
            <a:ext cx="2999232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section tag text"/>
          <p:cNvSpPr txBox="1"/>
          <p:nvPr/>
        </p:nvSpPr>
        <p:spPr>
          <a:xfrm>
            <a:off x="8732520" y="457200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B · AGGREGATIONS &amp; GROUP BY</a:t>
            </a:r>
            <a:endParaRPr lang="en-US" sz="1000" dirty="0"/>
          </a:p>
        </p:txBody>
      </p:sp>
      <p:sp>
        <p:nvSpPr>
          <p:cNvPr id="5" name="Q10 left card"/>
          <p:cNvSpPr/>
          <p:nvPr/>
        </p:nvSpPr>
        <p:spPr>
          <a:xfrm>
            <a:off x="457200" y="1188720"/>
            <a:ext cx="5943600" cy="4897323"/>
          </a:xfrm>
          <a:prstGeom prst="roundRect">
            <a:avLst>
              <a:gd name="adj" fmla="val 149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6" name="Q10 badge"/>
          <p:cNvSpPr/>
          <p:nvPr/>
        </p:nvSpPr>
        <p:spPr>
          <a:xfrm>
            <a:off x="685800" y="1444752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Q10 badge text"/>
          <p:cNvSpPr txBox="1"/>
          <p:nvPr/>
        </p:nvSpPr>
        <p:spPr>
          <a:xfrm>
            <a:off x="685800" y="14447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Q10</a:t>
            </a:r>
            <a:endParaRPr lang="en-US" sz="1200" dirty="0"/>
          </a:p>
        </p:txBody>
      </p:sp>
      <p:sp>
        <p:nvSpPr>
          <p:cNvPr id="8" name="Q10 title"/>
          <p:cNvSpPr txBox="1"/>
          <p:nvPr/>
        </p:nvSpPr>
        <p:spPr>
          <a:xfrm>
            <a:off x="1362456" y="1371600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Unique products ordered by each customer</a:t>
            </a:r>
            <a:endParaRPr lang="en-US" sz="1500" dirty="0"/>
          </a:p>
        </p:txBody>
      </p:sp>
      <p:sp>
        <p:nvSpPr>
          <p:cNvPr id="9" name="Q10 code box"/>
          <p:cNvSpPr/>
          <p:nvPr/>
        </p:nvSpPr>
        <p:spPr>
          <a:xfrm>
            <a:off x="685800" y="2011680"/>
            <a:ext cx="5486400" cy="1122883"/>
          </a:xfrm>
          <a:prstGeom prst="roundRect">
            <a:avLst>
              <a:gd name="adj" fmla="val 4886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0" name="Q10 code"/>
          <p:cNvSpPr txBox="1"/>
          <p:nvPr/>
        </p:nvSpPr>
        <p:spPr>
          <a:xfrm>
            <a:off x="804672" y="2075688"/>
            <a:ext cx="5248656" cy="99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c.customer_id, c.name,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oi.product_id)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unique_products_ordered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Customers 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Orders o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c.customer_id = o.customer_id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Order_Items oi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o.order_id = oi.order_id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c.customer_id, c.name;</a:t>
            </a:r>
            <a:endParaRPr lang="en-US" sz="1000" dirty="0"/>
          </a:p>
        </p:txBody>
      </p:sp>
      <p:sp>
        <p:nvSpPr>
          <p:cNvPr id="11" name="label INSIGHT"/>
          <p:cNvSpPr txBox="1"/>
          <p:nvPr/>
        </p:nvSpPr>
        <p:spPr>
          <a:xfrm>
            <a:off x="685800" y="3408883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INSIGHT</a:t>
            </a:r>
            <a:endParaRPr lang="en-US" sz="1000" dirty="0"/>
          </a:p>
        </p:txBody>
      </p:sp>
      <p:sp>
        <p:nvSpPr>
          <p:cNvPr id="12" name="Q10 insight"/>
          <p:cNvSpPr txBox="1"/>
          <p:nvPr/>
        </p:nvSpPr>
        <p:spPr>
          <a:xfrm>
            <a:off x="685800" y="3637483"/>
            <a:ext cx="5486400" cy="208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Every customer ordered </a:t>
            </a:r>
            <a:r>
              <a:rPr lang="en-US" sz="1400" b="1" dirty="0">
                <a:solidFill>
                  <a:schemeClr val="tx1"/>
                </a:solidFill>
              </a:rPr>
              <a:t>2 or 3</a:t>
            </a:r>
            <a:r>
              <a:rPr lang="en-US" sz="1400" dirty="0">
                <a:solidFill>
                  <a:schemeClr val="tx1"/>
                </a:solidFill>
              </a:rPr>
              <a:t> different products; nobody ordered more than 3.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Seven customers bought 3 unique products and the other eight bought 2.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Vikram Joshi has 5 orders but only 3 unique products, so he re-ordered some items.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DISTINCT is needed because the same product can appear in several orders.</a:t>
            </a:r>
            <a:endParaRPr lang="en-US" sz="1400" dirty="0"/>
          </a:p>
        </p:txBody>
      </p:sp>
      <p:sp>
        <p:nvSpPr>
          <p:cNvPr id="13" name="Q10 right card"/>
          <p:cNvSpPr/>
          <p:nvPr/>
        </p:nvSpPr>
        <p:spPr>
          <a:xfrm>
            <a:off x="6675120" y="1188720"/>
            <a:ext cx="5056632" cy="4897323"/>
          </a:xfrm>
          <a:prstGeom prst="roundRect">
            <a:avLst>
              <a:gd name="adj" fmla="val 149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14" name="label OUTPUT"/>
          <p:cNvSpPr txBox="1"/>
          <p:nvPr/>
        </p:nvSpPr>
        <p:spPr>
          <a:xfrm>
            <a:off x="6903720" y="1371600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OUTPUT</a:t>
            </a:r>
            <a:endParaRPr lang="en-US" sz="1000" dirty="0"/>
          </a:p>
        </p:txBody>
      </p:sp>
      <p:sp>
        <p:nvSpPr>
          <p:cNvPr id="15" name="Q10 frame"/>
          <p:cNvSpPr/>
          <p:nvPr/>
        </p:nvSpPr>
        <p:spPr>
          <a:xfrm>
            <a:off x="6903720" y="1600200"/>
            <a:ext cx="4500372" cy="400697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6" name="Q10 output" descr="Q10 output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96" y="1636776"/>
            <a:ext cx="4427220" cy="393382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Q11 – Orders Above the Average</a:t>
            </a:r>
            <a:endParaRPr lang="en-US" sz="2800" dirty="0"/>
          </a:p>
        </p:txBody>
      </p:sp>
      <p:sp>
        <p:nvSpPr>
          <p:cNvPr id="3" name="section tag"/>
          <p:cNvSpPr/>
          <p:nvPr/>
        </p:nvSpPr>
        <p:spPr>
          <a:xfrm>
            <a:off x="8732520" y="457200"/>
            <a:ext cx="2999232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section tag text"/>
          <p:cNvSpPr txBox="1"/>
          <p:nvPr/>
        </p:nvSpPr>
        <p:spPr>
          <a:xfrm>
            <a:off x="8732520" y="457200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 · SUBQUERIES</a:t>
            </a:r>
            <a:endParaRPr lang="en-US" sz="1000" dirty="0"/>
          </a:p>
        </p:txBody>
      </p:sp>
      <p:sp>
        <p:nvSpPr>
          <p:cNvPr id="5" name="Q11 left card"/>
          <p:cNvSpPr/>
          <p:nvPr/>
        </p:nvSpPr>
        <p:spPr>
          <a:xfrm>
            <a:off x="457200" y="1188720"/>
            <a:ext cx="5943600" cy="4983480"/>
          </a:xfrm>
          <a:prstGeom prst="roundRect">
            <a:avLst>
              <a:gd name="adj" fmla="val 146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6" name="Q11 badge"/>
          <p:cNvSpPr/>
          <p:nvPr/>
        </p:nvSpPr>
        <p:spPr>
          <a:xfrm>
            <a:off x="685800" y="1444752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Q11 badge text"/>
          <p:cNvSpPr txBox="1"/>
          <p:nvPr/>
        </p:nvSpPr>
        <p:spPr>
          <a:xfrm>
            <a:off x="685800" y="14447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Q11</a:t>
            </a:r>
            <a:endParaRPr lang="en-US" sz="1200" dirty="0"/>
          </a:p>
        </p:txBody>
      </p:sp>
      <p:sp>
        <p:nvSpPr>
          <p:cNvPr id="8" name="Q11 title"/>
          <p:cNvSpPr txBox="1"/>
          <p:nvPr/>
        </p:nvSpPr>
        <p:spPr>
          <a:xfrm>
            <a:off x="1362456" y="1371600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Customers with an order above the average amount</a:t>
            </a:r>
            <a:endParaRPr lang="en-US" sz="1500" dirty="0"/>
          </a:p>
        </p:txBody>
      </p:sp>
      <p:sp>
        <p:nvSpPr>
          <p:cNvPr id="9" name="Q11 code box"/>
          <p:cNvSpPr/>
          <p:nvPr/>
        </p:nvSpPr>
        <p:spPr>
          <a:xfrm>
            <a:off x="685800" y="2011680"/>
            <a:ext cx="5486400" cy="1122883"/>
          </a:xfrm>
          <a:prstGeom prst="roundRect">
            <a:avLst>
              <a:gd name="adj" fmla="val 4886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0" name="Q11 code"/>
          <p:cNvSpPr txBox="1"/>
          <p:nvPr/>
        </p:nvSpPr>
        <p:spPr>
          <a:xfrm>
            <a:off x="804672" y="2075688"/>
            <a:ext cx="5248656" cy="99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c.customer_id, c.name,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o.order_id, o.total_amount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Customers 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Orders o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c.customer_id = o.customer_id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o.total_amount &gt; (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(total_amount)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Orders);</a:t>
            </a:r>
            <a:endParaRPr lang="en-US" sz="1000" dirty="0"/>
          </a:p>
        </p:txBody>
      </p:sp>
      <p:sp>
        <p:nvSpPr>
          <p:cNvPr id="11" name="label INSIGHT"/>
          <p:cNvSpPr txBox="1"/>
          <p:nvPr/>
        </p:nvSpPr>
        <p:spPr>
          <a:xfrm>
            <a:off x="685800" y="3408883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INSIGHT</a:t>
            </a:r>
            <a:endParaRPr lang="en-US" sz="1000" dirty="0"/>
          </a:p>
        </p:txBody>
      </p:sp>
      <p:sp>
        <p:nvSpPr>
          <p:cNvPr id="12" name="Q11 insight"/>
          <p:cNvSpPr txBox="1"/>
          <p:nvPr/>
        </p:nvSpPr>
        <p:spPr>
          <a:xfrm>
            <a:off x="685800" y="3637483"/>
            <a:ext cx="5486400" cy="1865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average order value is </a:t>
            </a:r>
            <a:r>
              <a:rPr lang="en-US" sz="1400" b="1" dirty="0">
                <a:solidFill>
                  <a:schemeClr val="tx1"/>
                </a:solidFill>
              </a:rPr>
              <a:t>₹29,849</a:t>
            </a:r>
            <a:r>
              <a:rPr lang="en-US" sz="1400" dirty="0">
                <a:solidFill>
                  <a:schemeClr val="tx1"/>
                </a:solidFill>
              </a:rPr>
              <a:t>, and 19 of the 50 orders are above it.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These 19 orders come from 11 different customers; Ritika Gupta has 4 of them.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largest order is #19 by Vikram Joshi (₹1,11,998).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subquery runs once and returns a single average that is compared with every order.</a:t>
            </a:r>
            <a:endParaRPr lang="en-US" sz="1400" dirty="0"/>
          </a:p>
        </p:txBody>
      </p:sp>
      <p:sp>
        <p:nvSpPr>
          <p:cNvPr id="13" name="Q11 right card"/>
          <p:cNvSpPr/>
          <p:nvPr/>
        </p:nvSpPr>
        <p:spPr>
          <a:xfrm>
            <a:off x="6675120" y="1188720"/>
            <a:ext cx="5056632" cy="4983480"/>
          </a:xfrm>
          <a:prstGeom prst="roundRect">
            <a:avLst>
              <a:gd name="adj" fmla="val 146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14" name="label OUTPUT"/>
          <p:cNvSpPr txBox="1"/>
          <p:nvPr/>
        </p:nvSpPr>
        <p:spPr>
          <a:xfrm>
            <a:off x="6903720" y="1371600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OUTPUT</a:t>
            </a:r>
            <a:endParaRPr lang="en-US" sz="1000" dirty="0"/>
          </a:p>
        </p:txBody>
      </p:sp>
      <p:sp>
        <p:nvSpPr>
          <p:cNvPr id="15" name="Q11 frame"/>
          <p:cNvSpPr/>
          <p:nvPr/>
        </p:nvSpPr>
        <p:spPr>
          <a:xfrm>
            <a:off x="6903720" y="1600200"/>
            <a:ext cx="3809485" cy="4279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6" name="Q11 output" descr="Q11 output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96" y="1636776"/>
            <a:ext cx="3736333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Q12 &amp; Q13 – Subqueries with NOT IN and IN</a:t>
            </a:r>
            <a:endParaRPr lang="en-US" sz="2800" dirty="0"/>
          </a:p>
        </p:txBody>
      </p:sp>
      <p:sp>
        <p:nvSpPr>
          <p:cNvPr id="3" name="section tag"/>
          <p:cNvSpPr/>
          <p:nvPr/>
        </p:nvSpPr>
        <p:spPr>
          <a:xfrm>
            <a:off x="8732520" y="457200"/>
            <a:ext cx="2999232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section tag text"/>
          <p:cNvSpPr txBox="1"/>
          <p:nvPr/>
        </p:nvSpPr>
        <p:spPr>
          <a:xfrm>
            <a:off x="8732520" y="457200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 · SUBQUERIES</a:t>
            </a:r>
            <a:endParaRPr lang="en-US" sz="1000" dirty="0"/>
          </a:p>
        </p:txBody>
      </p:sp>
      <p:sp>
        <p:nvSpPr>
          <p:cNvPr id="5" name="Q12 card"/>
          <p:cNvSpPr/>
          <p:nvPr/>
        </p:nvSpPr>
        <p:spPr>
          <a:xfrm>
            <a:off x="457200" y="1188720"/>
            <a:ext cx="5500116" cy="5166360"/>
          </a:xfrm>
          <a:prstGeom prst="roundRect">
            <a:avLst>
              <a:gd name="adj" fmla="val 141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6" name="Q12 badge"/>
          <p:cNvSpPr/>
          <p:nvPr/>
        </p:nvSpPr>
        <p:spPr>
          <a:xfrm>
            <a:off x="685800" y="1444752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Q12 badge text"/>
          <p:cNvSpPr txBox="1"/>
          <p:nvPr/>
        </p:nvSpPr>
        <p:spPr>
          <a:xfrm>
            <a:off x="685800" y="14447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Q12</a:t>
            </a:r>
            <a:endParaRPr lang="en-US" sz="1200" dirty="0"/>
          </a:p>
        </p:txBody>
      </p:sp>
      <p:sp>
        <p:nvSpPr>
          <p:cNvPr id="8" name="Q12 title"/>
          <p:cNvSpPr txBox="1"/>
          <p:nvPr/>
        </p:nvSpPr>
        <p:spPr>
          <a:xfrm>
            <a:off x="1362456" y="1371600"/>
            <a:ext cx="4366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Products that have never been ordered (NOT IN)</a:t>
            </a:r>
            <a:endParaRPr lang="en-US" sz="1400" dirty="0"/>
          </a:p>
        </p:txBody>
      </p:sp>
      <p:sp>
        <p:nvSpPr>
          <p:cNvPr id="9" name="Q12 code box"/>
          <p:cNvSpPr/>
          <p:nvPr/>
        </p:nvSpPr>
        <p:spPr>
          <a:xfrm>
            <a:off x="685800" y="1965960"/>
            <a:ext cx="5042916" cy="969264"/>
          </a:xfrm>
          <a:prstGeom prst="roundRect">
            <a:avLst>
              <a:gd name="adj" fmla="val 566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0" name="Q12 code"/>
          <p:cNvSpPr txBox="1"/>
          <p:nvPr/>
        </p:nvSpPr>
        <p:spPr>
          <a:xfrm>
            <a:off x="804672" y="2029968"/>
            <a:ext cx="48051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product_id, product_name, category, price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product_id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product_id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Order_Items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product_id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11" name="label OUTPUT (EMPTY RESULT)"/>
          <p:cNvSpPr txBox="1"/>
          <p:nvPr/>
        </p:nvSpPr>
        <p:spPr>
          <a:xfrm>
            <a:off x="685800" y="3072384"/>
            <a:ext cx="50429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OUTPUT (EMPTY RESULT)</a:t>
            </a:r>
            <a:endParaRPr lang="en-US" sz="1000" dirty="0"/>
          </a:p>
        </p:txBody>
      </p:sp>
      <p:sp>
        <p:nvSpPr>
          <p:cNvPr id="12" name="Q12 frame"/>
          <p:cNvSpPr/>
          <p:nvPr/>
        </p:nvSpPr>
        <p:spPr>
          <a:xfrm>
            <a:off x="685800" y="3300984"/>
            <a:ext cx="4402265" cy="61607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3" name="Q12 output" descr="Q12 output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337560"/>
            <a:ext cx="4329113" cy="542925"/>
          </a:xfrm>
          <a:prstGeom prst="rect">
            <a:avLst/>
          </a:prstGeom>
        </p:spPr>
      </p:pic>
      <p:sp>
        <p:nvSpPr>
          <p:cNvPr id="14" name="label INSIGHT"/>
          <p:cNvSpPr txBox="1"/>
          <p:nvPr/>
        </p:nvSpPr>
        <p:spPr>
          <a:xfrm>
            <a:off x="685800" y="4054221"/>
            <a:ext cx="50429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INSIGHT</a:t>
            </a:r>
            <a:endParaRPr lang="en-US" sz="1000" dirty="0"/>
          </a:p>
        </p:txBody>
      </p:sp>
      <p:sp>
        <p:nvSpPr>
          <p:cNvPr id="15" name="Q12 insight"/>
          <p:cNvSpPr txBox="1"/>
          <p:nvPr/>
        </p:nvSpPr>
        <p:spPr>
          <a:xfrm>
            <a:off x="685800" y="4282821"/>
            <a:ext cx="5042916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The query returns </a:t>
            </a:r>
            <a:r>
              <a:rPr lang="en-US" sz="1200" b="1" dirty="0">
                <a:solidFill>
                  <a:schemeClr val="tx1"/>
                </a:solidFill>
              </a:rPr>
              <a:t>0 rows</a:t>
            </a:r>
            <a:r>
              <a:rPr lang="en-US" sz="1200" dirty="0">
                <a:solidFill>
                  <a:schemeClr val="tx1"/>
                </a:solidFill>
              </a:rPr>
              <a:t>, so all 10 products have been ordered at least once.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The IS NOT NULL filter in the subquery avoids the NOT IN trap, where a single NULL would hide every row.</a:t>
            </a:r>
            <a:endParaRPr lang="en-US" sz="1200" dirty="0"/>
          </a:p>
        </p:txBody>
      </p:sp>
      <p:sp>
        <p:nvSpPr>
          <p:cNvPr id="16" name="Q13 card"/>
          <p:cNvSpPr/>
          <p:nvPr/>
        </p:nvSpPr>
        <p:spPr>
          <a:xfrm>
            <a:off x="6231636" y="1188720"/>
            <a:ext cx="5500116" cy="5166360"/>
          </a:xfrm>
          <a:prstGeom prst="roundRect">
            <a:avLst>
              <a:gd name="adj" fmla="val 141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17" name="Q13 badge"/>
          <p:cNvSpPr/>
          <p:nvPr/>
        </p:nvSpPr>
        <p:spPr>
          <a:xfrm>
            <a:off x="6460236" y="1444752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8" name="Q13 badge text"/>
          <p:cNvSpPr txBox="1"/>
          <p:nvPr/>
        </p:nvSpPr>
        <p:spPr>
          <a:xfrm>
            <a:off x="6460236" y="14447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Q13</a:t>
            </a:r>
            <a:endParaRPr lang="en-US" sz="1200" dirty="0"/>
          </a:p>
        </p:txBody>
      </p:sp>
      <p:sp>
        <p:nvSpPr>
          <p:cNvPr id="19" name="Q13 title"/>
          <p:cNvSpPr txBox="1"/>
          <p:nvPr/>
        </p:nvSpPr>
        <p:spPr>
          <a:xfrm>
            <a:off x="7136892" y="1371600"/>
            <a:ext cx="4366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Customers who ordered an Electronics product</a:t>
            </a:r>
            <a:endParaRPr lang="en-US" sz="1400" dirty="0"/>
          </a:p>
        </p:txBody>
      </p:sp>
      <p:sp>
        <p:nvSpPr>
          <p:cNvPr id="20" name="Q13 code box"/>
          <p:cNvSpPr/>
          <p:nvPr/>
        </p:nvSpPr>
        <p:spPr>
          <a:xfrm>
            <a:off x="6460236" y="1965960"/>
            <a:ext cx="5042916" cy="1430122"/>
          </a:xfrm>
          <a:prstGeom prst="roundRect">
            <a:avLst>
              <a:gd name="adj" fmla="val 3836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1" name="Q13 code"/>
          <p:cNvSpPr txBox="1"/>
          <p:nvPr/>
        </p:nvSpPr>
        <p:spPr>
          <a:xfrm>
            <a:off x="6579108" y="2029968"/>
            <a:ext cx="4805172" cy="1302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customer_id, 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Customers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customer_id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o.customer_id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Orders 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Order_Items oi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o.order_id = oi.order_id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Products p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oi.product_id = p.product_id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p.category =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'Electronics'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22" name="label OUTPUT"/>
          <p:cNvSpPr txBox="1"/>
          <p:nvPr/>
        </p:nvSpPr>
        <p:spPr>
          <a:xfrm>
            <a:off x="9391971" y="3533242"/>
            <a:ext cx="20380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OUTPUT</a:t>
            </a:r>
            <a:endParaRPr lang="en-US" sz="1000" dirty="0"/>
          </a:p>
        </p:txBody>
      </p:sp>
      <p:sp>
        <p:nvSpPr>
          <p:cNvPr id="23" name="Q13 frame"/>
          <p:cNvSpPr/>
          <p:nvPr/>
        </p:nvSpPr>
        <p:spPr>
          <a:xfrm>
            <a:off x="9391971" y="3761842"/>
            <a:ext cx="2111181" cy="245607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4" name="Q13 output" descr="Q13 output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8547" y="3798418"/>
            <a:ext cx="2038029" cy="2382926"/>
          </a:xfrm>
          <a:prstGeom prst="rect">
            <a:avLst/>
          </a:prstGeom>
        </p:spPr>
      </p:pic>
      <p:sp>
        <p:nvSpPr>
          <p:cNvPr id="25" name="label INSIGHT"/>
          <p:cNvSpPr txBox="1"/>
          <p:nvPr/>
        </p:nvSpPr>
        <p:spPr>
          <a:xfrm>
            <a:off x="6460236" y="3533242"/>
            <a:ext cx="26848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INSIGHT</a:t>
            </a:r>
            <a:endParaRPr lang="en-US" sz="1000" dirty="0"/>
          </a:p>
        </p:txBody>
      </p:sp>
      <p:sp>
        <p:nvSpPr>
          <p:cNvPr id="26" name="Q13 insight"/>
          <p:cNvSpPr txBox="1"/>
          <p:nvPr/>
        </p:nvSpPr>
        <p:spPr>
          <a:xfrm>
            <a:off x="6460236" y="3761842"/>
            <a:ext cx="2684847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12 of 15</a:t>
            </a:r>
            <a:r>
              <a:rPr lang="en-US" sz="1200" dirty="0">
                <a:solidFill>
                  <a:schemeClr val="tx1"/>
                </a:solidFill>
              </a:rPr>
              <a:t> customers ordered at least one Electronics product.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Amit Patel, Priya Reddy and Tanya Mishra never ordered Electronics.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The subquery returns customer ids; the outer query fetches their names.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Q14 &amp; Q15 – Nested Subquery and MAX()</a:t>
            </a:r>
            <a:endParaRPr lang="en-US" sz="2800" dirty="0"/>
          </a:p>
        </p:txBody>
      </p:sp>
      <p:sp>
        <p:nvSpPr>
          <p:cNvPr id="3" name="section tag"/>
          <p:cNvSpPr/>
          <p:nvPr/>
        </p:nvSpPr>
        <p:spPr>
          <a:xfrm>
            <a:off x="8732520" y="457200"/>
            <a:ext cx="2999232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section tag text"/>
          <p:cNvSpPr txBox="1"/>
          <p:nvPr/>
        </p:nvSpPr>
        <p:spPr>
          <a:xfrm>
            <a:off x="8732520" y="457200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 · SUBQUERIES</a:t>
            </a:r>
            <a:endParaRPr lang="en-US" sz="1000" dirty="0"/>
          </a:p>
        </p:txBody>
      </p:sp>
      <p:sp>
        <p:nvSpPr>
          <p:cNvPr id="5" name="Q14 card"/>
          <p:cNvSpPr/>
          <p:nvPr/>
        </p:nvSpPr>
        <p:spPr>
          <a:xfrm>
            <a:off x="457200" y="1188720"/>
            <a:ext cx="5500116" cy="4688434"/>
          </a:xfrm>
          <a:prstGeom prst="roundRect">
            <a:avLst>
              <a:gd name="adj" fmla="val 156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6" name="Q14 badge"/>
          <p:cNvSpPr/>
          <p:nvPr/>
        </p:nvSpPr>
        <p:spPr>
          <a:xfrm>
            <a:off x="685800" y="1444752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Q14 badge text"/>
          <p:cNvSpPr txBox="1"/>
          <p:nvPr/>
        </p:nvSpPr>
        <p:spPr>
          <a:xfrm>
            <a:off x="685800" y="14447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Q14</a:t>
            </a:r>
            <a:endParaRPr lang="en-US" sz="1200" dirty="0"/>
          </a:p>
        </p:txBody>
      </p:sp>
      <p:sp>
        <p:nvSpPr>
          <p:cNvPr id="8" name="Q14 title"/>
          <p:cNvSpPr txBox="1"/>
          <p:nvPr/>
        </p:nvSpPr>
        <p:spPr>
          <a:xfrm>
            <a:off x="1362456" y="1371600"/>
            <a:ext cx="4366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Suppliers whose products were ordered over 100 times</a:t>
            </a:r>
            <a:endParaRPr lang="en-US" sz="1400" dirty="0"/>
          </a:p>
        </p:txBody>
      </p:sp>
      <p:sp>
        <p:nvSpPr>
          <p:cNvPr id="9" name="Q14 code box"/>
          <p:cNvSpPr/>
          <p:nvPr/>
        </p:nvSpPr>
        <p:spPr>
          <a:xfrm>
            <a:off x="685800" y="1965960"/>
            <a:ext cx="5042916" cy="1430122"/>
          </a:xfrm>
          <a:prstGeom prst="roundRect">
            <a:avLst>
              <a:gd name="adj" fmla="val 3836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0" name="Q14 code"/>
          <p:cNvSpPr txBox="1"/>
          <p:nvPr/>
        </p:nvSpPr>
        <p:spPr>
          <a:xfrm>
            <a:off x="804672" y="2029968"/>
            <a:ext cx="4805172" cy="1302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supplier_id, supplier_name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Suppliers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supplier_id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p.supplier_id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Products 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Order_Items oi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p.product_id = oi.product_id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p.product_id, p.supplier_id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(oi.quantity) &gt;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11" name="label OUTPUT (EMPTY RESULT)"/>
          <p:cNvSpPr txBox="1"/>
          <p:nvPr/>
        </p:nvSpPr>
        <p:spPr>
          <a:xfrm>
            <a:off x="685800" y="3533242"/>
            <a:ext cx="50429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OUTPUT (EMPTY RESULT)</a:t>
            </a:r>
            <a:endParaRPr lang="en-US" sz="1000" dirty="0"/>
          </a:p>
        </p:txBody>
      </p:sp>
      <p:graphicFrame>
        <p:nvGraphicFramePr>
          <p:cNvPr id="13" name="Q14 empty resul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761842"/>
          <a:ext cx="5042916" cy="585216"/>
        </p:xfrm>
        <a:graphic>
          <a:graphicData uri="http://schemas.openxmlformats.org/drawingml/2006/table">
            <a:tbl>
              <a:tblPr/>
              <a:tblGrid>
                <a:gridCol w="2363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9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supplier_id</a:t>
                      </a:r>
                      <a:endParaRPr lang="en-US" sz="10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supplier_name</a:t>
                      </a:r>
                      <a:endParaRPr lang="en-US" sz="10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chemeClr val="accent5"/>
                          </a:solidFill>
                        </a:rPr>
                        <a:t>0 row(s) returned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label INSIGHT"/>
          <p:cNvSpPr txBox="1"/>
          <p:nvPr/>
        </p:nvSpPr>
        <p:spPr>
          <a:xfrm>
            <a:off x="685800" y="4484218"/>
            <a:ext cx="50429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INSIGHT</a:t>
            </a:r>
            <a:endParaRPr lang="en-US" sz="1000" dirty="0"/>
          </a:p>
        </p:txBody>
      </p:sp>
      <p:sp>
        <p:nvSpPr>
          <p:cNvPr id="14" name="Q14 insight"/>
          <p:cNvSpPr txBox="1"/>
          <p:nvPr/>
        </p:nvSpPr>
        <p:spPr>
          <a:xfrm>
            <a:off x="685800" y="4712818"/>
            <a:ext cx="5042916" cy="1027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The query returns </a:t>
            </a:r>
            <a:r>
              <a:rPr lang="en-US" sz="1200" b="1" dirty="0">
                <a:solidFill>
                  <a:schemeClr val="tx1"/>
                </a:solidFill>
              </a:rPr>
              <a:t>0 rows</a:t>
            </a:r>
            <a:r>
              <a:rPr lang="en-US" sz="1200" dirty="0">
                <a:solidFill>
                  <a:schemeClr val="tx1"/>
                </a:solidFill>
              </a:rPr>
              <a:t>: no product reaches 100 units in total.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With only 50 orders the volumes are small. Boat Earbuds, for example, sold about 7 units (₹17,493 of sales at ₹2,499 each).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Here "ordered more than 100 times" is read as total quantity per product.</a:t>
            </a:r>
            <a:endParaRPr lang="en-US" sz="1200" dirty="0"/>
          </a:p>
        </p:txBody>
      </p:sp>
      <p:sp>
        <p:nvSpPr>
          <p:cNvPr id="15" name="Q15 card"/>
          <p:cNvSpPr/>
          <p:nvPr/>
        </p:nvSpPr>
        <p:spPr>
          <a:xfrm>
            <a:off x="6231636" y="1188720"/>
            <a:ext cx="5500116" cy="4688434"/>
          </a:xfrm>
          <a:prstGeom prst="roundRect">
            <a:avLst>
              <a:gd name="adj" fmla="val 156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16" name="Q15 badge"/>
          <p:cNvSpPr/>
          <p:nvPr/>
        </p:nvSpPr>
        <p:spPr>
          <a:xfrm>
            <a:off x="6460236" y="1444752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Q15 badge text"/>
          <p:cNvSpPr txBox="1"/>
          <p:nvPr/>
        </p:nvSpPr>
        <p:spPr>
          <a:xfrm>
            <a:off x="6460236" y="14447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Q15</a:t>
            </a:r>
            <a:endParaRPr lang="en-US" sz="1200" dirty="0"/>
          </a:p>
        </p:txBody>
      </p:sp>
      <p:sp>
        <p:nvSpPr>
          <p:cNvPr id="18" name="Q15 title"/>
          <p:cNvSpPr txBox="1"/>
          <p:nvPr/>
        </p:nvSpPr>
        <p:spPr>
          <a:xfrm>
            <a:off x="7136892" y="1371600"/>
            <a:ext cx="4366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Most expensive product (subquery with MAX)</a:t>
            </a:r>
            <a:endParaRPr lang="en-US" sz="1400" dirty="0"/>
          </a:p>
        </p:txBody>
      </p:sp>
      <p:sp>
        <p:nvSpPr>
          <p:cNvPr id="19" name="Q15 code box"/>
          <p:cNvSpPr/>
          <p:nvPr/>
        </p:nvSpPr>
        <p:spPr>
          <a:xfrm>
            <a:off x="6460236" y="1965960"/>
            <a:ext cx="5042916" cy="662026"/>
          </a:xfrm>
          <a:prstGeom prst="roundRect">
            <a:avLst>
              <a:gd name="adj" fmla="val 8287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0" name="Q15 code"/>
          <p:cNvSpPr txBox="1"/>
          <p:nvPr/>
        </p:nvSpPr>
        <p:spPr>
          <a:xfrm>
            <a:off x="6579108" y="2029968"/>
            <a:ext cx="480517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product_id, product_name, category, price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price = (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(price)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Products);</a:t>
            </a:r>
            <a:endParaRPr lang="en-US" sz="1000" dirty="0"/>
          </a:p>
        </p:txBody>
      </p:sp>
      <p:sp>
        <p:nvSpPr>
          <p:cNvPr id="21" name="label OUTPUT"/>
          <p:cNvSpPr txBox="1"/>
          <p:nvPr/>
        </p:nvSpPr>
        <p:spPr>
          <a:xfrm>
            <a:off x="6460236" y="2765146"/>
            <a:ext cx="50429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OUTPUT</a:t>
            </a:r>
            <a:endParaRPr lang="en-US" sz="1000" dirty="0"/>
          </a:p>
        </p:txBody>
      </p:sp>
      <p:sp>
        <p:nvSpPr>
          <p:cNvPr id="22" name="Q15 frame"/>
          <p:cNvSpPr/>
          <p:nvPr/>
        </p:nvSpPr>
        <p:spPr>
          <a:xfrm>
            <a:off x="6460236" y="2993746"/>
            <a:ext cx="4745165" cy="120186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3" name="Q15 output" descr="Q15 output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2" y="3030322"/>
            <a:ext cx="4672013" cy="1128713"/>
          </a:xfrm>
          <a:prstGeom prst="rect">
            <a:avLst/>
          </a:prstGeom>
        </p:spPr>
      </p:pic>
      <p:sp>
        <p:nvSpPr>
          <p:cNvPr id="24" name="label INSIGHT"/>
          <p:cNvSpPr txBox="1"/>
          <p:nvPr/>
        </p:nvSpPr>
        <p:spPr>
          <a:xfrm>
            <a:off x="6460236" y="4332770"/>
            <a:ext cx="50429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INSIGHT</a:t>
            </a:r>
            <a:endParaRPr lang="en-US" sz="1000" dirty="0"/>
          </a:p>
        </p:txBody>
      </p:sp>
      <p:sp>
        <p:nvSpPr>
          <p:cNvPr id="25" name="Q15 insight"/>
          <p:cNvSpPr txBox="1"/>
          <p:nvPr/>
        </p:nvSpPr>
        <p:spPr>
          <a:xfrm>
            <a:off x="6460236" y="4561370"/>
            <a:ext cx="5042916" cy="1027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The iPhone 15 (Electronics, </a:t>
            </a:r>
            <a:r>
              <a:rPr lang="en-US" sz="1200" b="1" dirty="0">
                <a:solidFill>
                  <a:schemeClr val="tx1"/>
                </a:solidFill>
              </a:rPr>
              <a:t>₹79,999</a:t>
            </a:r>
            <a:r>
              <a:rPr lang="en-US" sz="1200" dirty="0">
                <a:solidFill>
                  <a:schemeClr val="tx1"/>
                </a:solidFill>
              </a:rPr>
              <a:t>) is the most expensive product.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The subquery returns one value, the maximum price, which is compared with each product.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If two products shared the top price, both would be returned.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Q16 – The IN Operator</a:t>
            </a:r>
            <a:endParaRPr lang="en-US" sz="2800" dirty="0"/>
          </a:p>
        </p:txBody>
      </p:sp>
      <p:sp>
        <p:nvSpPr>
          <p:cNvPr id="3" name="section tag"/>
          <p:cNvSpPr/>
          <p:nvPr/>
        </p:nvSpPr>
        <p:spPr>
          <a:xfrm>
            <a:off x="8732520" y="457200"/>
            <a:ext cx="2999232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section tag text"/>
          <p:cNvSpPr txBox="1"/>
          <p:nvPr/>
        </p:nvSpPr>
        <p:spPr>
          <a:xfrm>
            <a:off x="8732520" y="457200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D · ADVANCED FILTERS</a:t>
            </a:r>
            <a:endParaRPr lang="en-US" sz="1000" dirty="0"/>
          </a:p>
        </p:txBody>
      </p:sp>
      <p:sp>
        <p:nvSpPr>
          <p:cNvPr id="5" name="Q16 left card"/>
          <p:cNvSpPr/>
          <p:nvPr/>
        </p:nvSpPr>
        <p:spPr>
          <a:xfrm>
            <a:off x="457200" y="1188720"/>
            <a:ext cx="5943600" cy="4028948"/>
          </a:xfrm>
          <a:prstGeom prst="roundRect">
            <a:avLst>
              <a:gd name="adj" fmla="val 181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6" name="Q16 badge"/>
          <p:cNvSpPr/>
          <p:nvPr/>
        </p:nvSpPr>
        <p:spPr>
          <a:xfrm>
            <a:off x="685800" y="1444752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Q16 badge text"/>
          <p:cNvSpPr txBox="1"/>
          <p:nvPr/>
        </p:nvSpPr>
        <p:spPr>
          <a:xfrm>
            <a:off x="685800" y="14447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Q16</a:t>
            </a:r>
            <a:endParaRPr lang="en-US" sz="1200" dirty="0"/>
          </a:p>
        </p:txBody>
      </p:sp>
      <p:sp>
        <p:nvSpPr>
          <p:cNvPr id="8" name="Q16 title"/>
          <p:cNvSpPr txBox="1"/>
          <p:nvPr/>
        </p:nvSpPr>
        <p:spPr>
          <a:xfrm>
            <a:off x="1362456" y="1371600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Orders from customers in Mumbai, Delhi or Bengaluru (IN)</a:t>
            </a:r>
            <a:endParaRPr lang="en-US" sz="1500" dirty="0"/>
          </a:p>
        </p:txBody>
      </p:sp>
      <p:sp>
        <p:nvSpPr>
          <p:cNvPr id="9" name="Q16 code box"/>
          <p:cNvSpPr/>
          <p:nvPr/>
        </p:nvSpPr>
        <p:spPr>
          <a:xfrm>
            <a:off x="685800" y="2011680"/>
            <a:ext cx="5486400" cy="969264"/>
          </a:xfrm>
          <a:prstGeom prst="roundRect">
            <a:avLst>
              <a:gd name="adj" fmla="val 566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0" name="Q16 code"/>
          <p:cNvSpPr txBox="1"/>
          <p:nvPr/>
        </p:nvSpPr>
        <p:spPr>
          <a:xfrm>
            <a:off x="804672" y="2075688"/>
            <a:ext cx="5248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o.order_id, o.order_date, o.total_amount,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o.payment_mode, c.name, c.city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Orders 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Customers c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o.customer_id = c.customer_id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c.city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'Mumbai'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'Delhi'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'Bengaluru'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11" name="label INSIGHT"/>
          <p:cNvSpPr txBox="1"/>
          <p:nvPr/>
        </p:nvSpPr>
        <p:spPr>
          <a:xfrm>
            <a:off x="685800" y="325526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INSIGHT</a:t>
            </a:r>
            <a:endParaRPr lang="en-US" sz="1000" dirty="0"/>
          </a:p>
        </p:txBody>
      </p:sp>
      <p:sp>
        <p:nvSpPr>
          <p:cNvPr id="12" name="Q16 insight"/>
          <p:cNvSpPr txBox="1"/>
          <p:nvPr/>
        </p:nvSpPr>
        <p:spPr>
          <a:xfrm>
            <a:off x="685800" y="3483864"/>
            <a:ext cx="5486400" cy="1368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orders shown belong to customers in Delhi (Rohit Kumar, Ravi Shankar), Mumbai (Sneha Sharma) and Bengaluru (Arjun Mehta).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data spells the city as "Bengaluru", which matches the filter.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 is a shorter way to write three city = ... conditions joined with OR.</a:t>
            </a:r>
            <a:endParaRPr lang="en-US" sz="1400" dirty="0"/>
          </a:p>
        </p:txBody>
      </p:sp>
      <p:sp>
        <p:nvSpPr>
          <p:cNvPr id="13" name="Q16 right card"/>
          <p:cNvSpPr/>
          <p:nvPr/>
        </p:nvSpPr>
        <p:spPr>
          <a:xfrm>
            <a:off x="6675120" y="1188720"/>
            <a:ext cx="5056632" cy="4028948"/>
          </a:xfrm>
          <a:prstGeom prst="roundRect">
            <a:avLst>
              <a:gd name="adj" fmla="val 181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14" name="label OUTPUT"/>
          <p:cNvSpPr txBox="1"/>
          <p:nvPr/>
        </p:nvSpPr>
        <p:spPr>
          <a:xfrm>
            <a:off x="6903720" y="1371600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OUTPUT</a:t>
            </a:r>
            <a:endParaRPr lang="en-US" sz="1000" dirty="0"/>
          </a:p>
        </p:txBody>
      </p:sp>
      <p:sp>
        <p:nvSpPr>
          <p:cNvPr id="15" name="Q16 frame"/>
          <p:cNvSpPr/>
          <p:nvPr/>
        </p:nvSpPr>
        <p:spPr>
          <a:xfrm>
            <a:off x="6903720" y="1600200"/>
            <a:ext cx="4581144" cy="256713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6" name="Q16 output" descr="Q16 output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96" y="1636776"/>
            <a:ext cx="4507992" cy="249398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Q17 – The NOT IN Operator</a:t>
            </a:r>
            <a:endParaRPr lang="en-US" sz="2800" dirty="0"/>
          </a:p>
        </p:txBody>
      </p:sp>
      <p:sp>
        <p:nvSpPr>
          <p:cNvPr id="3" name="section tag"/>
          <p:cNvSpPr/>
          <p:nvPr/>
        </p:nvSpPr>
        <p:spPr>
          <a:xfrm>
            <a:off x="8732520" y="457200"/>
            <a:ext cx="2999232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section tag text"/>
          <p:cNvSpPr txBox="1"/>
          <p:nvPr/>
        </p:nvSpPr>
        <p:spPr>
          <a:xfrm>
            <a:off x="8732520" y="457200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D · ADVANCED FILTERS</a:t>
            </a:r>
            <a:endParaRPr lang="en-US" sz="1000" dirty="0"/>
          </a:p>
        </p:txBody>
      </p:sp>
      <p:sp>
        <p:nvSpPr>
          <p:cNvPr id="5" name="Q17 left card"/>
          <p:cNvSpPr/>
          <p:nvPr/>
        </p:nvSpPr>
        <p:spPr>
          <a:xfrm>
            <a:off x="457200" y="1188720"/>
            <a:ext cx="5943600" cy="4983480"/>
          </a:xfrm>
          <a:prstGeom prst="roundRect">
            <a:avLst>
              <a:gd name="adj" fmla="val 146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6" name="Q17 badge"/>
          <p:cNvSpPr/>
          <p:nvPr/>
        </p:nvSpPr>
        <p:spPr>
          <a:xfrm>
            <a:off x="685800" y="1444752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Q17 badge text"/>
          <p:cNvSpPr txBox="1"/>
          <p:nvPr/>
        </p:nvSpPr>
        <p:spPr>
          <a:xfrm>
            <a:off x="685800" y="14447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Q17</a:t>
            </a:r>
            <a:endParaRPr lang="en-US" sz="1200" dirty="0"/>
          </a:p>
        </p:txBody>
      </p:sp>
      <p:sp>
        <p:nvSpPr>
          <p:cNvPr id="8" name="Q17 title"/>
          <p:cNvSpPr txBox="1"/>
          <p:nvPr/>
        </p:nvSpPr>
        <p:spPr>
          <a:xfrm>
            <a:off x="1362456" y="1371600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Orders not paid by UPI or Credit Card (NOT IN)</a:t>
            </a:r>
            <a:endParaRPr lang="en-US" sz="1500" dirty="0"/>
          </a:p>
        </p:txBody>
      </p:sp>
      <p:sp>
        <p:nvSpPr>
          <p:cNvPr id="9" name="Q17 code box"/>
          <p:cNvSpPr/>
          <p:nvPr/>
        </p:nvSpPr>
        <p:spPr>
          <a:xfrm>
            <a:off x="685800" y="2011680"/>
            <a:ext cx="5486400" cy="662026"/>
          </a:xfrm>
          <a:prstGeom prst="roundRect">
            <a:avLst>
              <a:gd name="adj" fmla="val 8287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0" name="Q17 code"/>
          <p:cNvSpPr txBox="1"/>
          <p:nvPr/>
        </p:nvSpPr>
        <p:spPr>
          <a:xfrm>
            <a:off x="804672" y="2075688"/>
            <a:ext cx="5248656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payment_mode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'UPI'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'Credit Card'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11" name="label INSIGHT"/>
          <p:cNvSpPr txBox="1"/>
          <p:nvPr/>
        </p:nvSpPr>
        <p:spPr>
          <a:xfrm>
            <a:off x="685800" y="294802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INSIGHT</a:t>
            </a:r>
            <a:endParaRPr lang="en-US" sz="1000" dirty="0"/>
          </a:p>
        </p:txBody>
      </p:sp>
      <p:sp>
        <p:nvSpPr>
          <p:cNvPr id="12" name="Q17 insight"/>
          <p:cNvSpPr txBox="1"/>
          <p:nvPr/>
        </p:nvSpPr>
        <p:spPr>
          <a:xfrm>
            <a:off x="685800" y="3176626"/>
            <a:ext cx="5486400" cy="1368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23 of 50</a:t>
            </a:r>
            <a:r>
              <a:rPr lang="en-US" sz="1400" dirty="0">
                <a:solidFill>
                  <a:schemeClr val="tx1"/>
                </a:solidFill>
              </a:rPr>
              <a:t> orders were paid by Cash (8), Net Banking (8) or Debit Card (7).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other 27 orders used UPI (16) or Credit Card (11).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Both modes are excluded in a single condition, instead of two separate &lt;&gt; checks.</a:t>
            </a:r>
            <a:endParaRPr lang="en-US" sz="1400" dirty="0"/>
          </a:p>
        </p:txBody>
      </p:sp>
      <p:sp>
        <p:nvSpPr>
          <p:cNvPr id="13" name="Q17 right card"/>
          <p:cNvSpPr/>
          <p:nvPr/>
        </p:nvSpPr>
        <p:spPr>
          <a:xfrm>
            <a:off x="6675120" y="1188720"/>
            <a:ext cx="5056632" cy="4983480"/>
          </a:xfrm>
          <a:prstGeom prst="roundRect">
            <a:avLst>
              <a:gd name="adj" fmla="val 146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14" name="label OUTPUT"/>
          <p:cNvSpPr txBox="1"/>
          <p:nvPr/>
        </p:nvSpPr>
        <p:spPr>
          <a:xfrm>
            <a:off x="6903720" y="1371600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OUTPUT</a:t>
            </a:r>
            <a:endParaRPr lang="en-US" sz="1000" dirty="0"/>
          </a:p>
        </p:txBody>
      </p:sp>
      <p:sp>
        <p:nvSpPr>
          <p:cNvPr id="15" name="Q17 frame"/>
          <p:cNvSpPr/>
          <p:nvPr/>
        </p:nvSpPr>
        <p:spPr>
          <a:xfrm>
            <a:off x="6903720" y="1600200"/>
            <a:ext cx="4000259" cy="4279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6" name="Q17 output" descr="Q17 output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96" y="1636776"/>
            <a:ext cx="3927107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Q18, Q19 &amp; Q20 – IS NULL, NOT IN and OFFSET</a:t>
            </a:r>
            <a:endParaRPr lang="en-US" sz="2800" dirty="0"/>
          </a:p>
        </p:txBody>
      </p:sp>
      <p:sp>
        <p:nvSpPr>
          <p:cNvPr id="3" name="section tag"/>
          <p:cNvSpPr/>
          <p:nvPr/>
        </p:nvSpPr>
        <p:spPr>
          <a:xfrm>
            <a:off x="8732520" y="457200"/>
            <a:ext cx="2999232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section tag text"/>
          <p:cNvSpPr txBox="1"/>
          <p:nvPr/>
        </p:nvSpPr>
        <p:spPr>
          <a:xfrm>
            <a:off x="8732520" y="457200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D · ADVANCED FILTERS</a:t>
            </a:r>
            <a:endParaRPr lang="en-US" sz="1000" dirty="0"/>
          </a:p>
        </p:txBody>
      </p:sp>
      <p:sp>
        <p:nvSpPr>
          <p:cNvPr id="5" name="Q18 card"/>
          <p:cNvSpPr/>
          <p:nvPr/>
        </p:nvSpPr>
        <p:spPr>
          <a:xfrm>
            <a:off x="457200" y="1188720"/>
            <a:ext cx="3575304" cy="4831271"/>
          </a:xfrm>
          <a:prstGeom prst="roundRect">
            <a:avLst>
              <a:gd name="adj" fmla="val 204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6" name="Q18 badge"/>
          <p:cNvSpPr/>
          <p:nvPr/>
        </p:nvSpPr>
        <p:spPr>
          <a:xfrm>
            <a:off x="685800" y="1444752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Q18 badge text"/>
          <p:cNvSpPr txBox="1"/>
          <p:nvPr/>
        </p:nvSpPr>
        <p:spPr>
          <a:xfrm>
            <a:off x="685800" y="14447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Q18</a:t>
            </a:r>
            <a:endParaRPr lang="en-US" sz="1200" dirty="0"/>
          </a:p>
        </p:txBody>
      </p:sp>
      <p:sp>
        <p:nvSpPr>
          <p:cNvPr id="8" name="Q18 title"/>
          <p:cNvSpPr txBox="1"/>
          <p:nvPr/>
        </p:nvSpPr>
        <p:spPr>
          <a:xfrm>
            <a:off x="1362456" y="137160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Customers with no email recorded (IS NULL)</a:t>
            </a:r>
            <a:endParaRPr lang="en-US" sz="1300" dirty="0"/>
          </a:p>
        </p:txBody>
      </p:sp>
      <p:sp>
        <p:nvSpPr>
          <p:cNvPr id="9" name="Q18 code box"/>
          <p:cNvSpPr/>
          <p:nvPr/>
        </p:nvSpPr>
        <p:spPr>
          <a:xfrm>
            <a:off x="685800" y="1965960"/>
            <a:ext cx="3118104" cy="815645"/>
          </a:xfrm>
          <a:prstGeom prst="roundRect">
            <a:avLst>
              <a:gd name="adj" fmla="val 6726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0" name="Q18 code"/>
          <p:cNvSpPr txBox="1"/>
          <p:nvPr/>
        </p:nvSpPr>
        <p:spPr>
          <a:xfrm>
            <a:off x="804672" y="2029968"/>
            <a:ext cx="2880360" cy="687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customer_id, name, city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Customers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email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(email) =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1" name="label OUTPUT (EMPTY RESULT)"/>
          <p:cNvSpPr txBox="1"/>
          <p:nvPr/>
        </p:nvSpPr>
        <p:spPr>
          <a:xfrm>
            <a:off x="685800" y="2918765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OUTPUT (EMPTY RESULT)</a:t>
            </a:r>
            <a:endParaRPr lang="en-US" sz="1000" dirty="0"/>
          </a:p>
        </p:txBody>
      </p:sp>
      <p:sp>
        <p:nvSpPr>
          <p:cNvPr id="12" name="Q18 frame"/>
          <p:cNvSpPr/>
          <p:nvPr/>
        </p:nvSpPr>
        <p:spPr>
          <a:xfrm>
            <a:off x="685800" y="3147365"/>
            <a:ext cx="3099816" cy="9211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3" name="Q18 output" descr="Q18 output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183941"/>
            <a:ext cx="3026664" cy="847988"/>
          </a:xfrm>
          <a:prstGeom prst="rect">
            <a:avLst/>
          </a:prstGeom>
        </p:spPr>
      </p:pic>
      <p:sp>
        <p:nvSpPr>
          <p:cNvPr id="14" name="label INSIGHT"/>
          <p:cNvSpPr txBox="1"/>
          <p:nvPr/>
        </p:nvSpPr>
        <p:spPr>
          <a:xfrm>
            <a:off x="685800" y="4205665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INSIGHT</a:t>
            </a:r>
            <a:endParaRPr lang="en-US" sz="1000" dirty="0"/>
          </a:p>
        </p:txBody>
      </p:sp>
      <p:sp>
        <p:nvSpPr>
          <p:cNvPr id="15" name="Q18 insight"/>
          <p:cNvSpPr txBox="1"/>
          <p:nvPr/>
        </p:nvSpPr>
        <p:spPr>
          <a:xfrm>
            <a:off x="685800" y="4434265"/>
            <a:ext cx="3118104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0 rows</a:t>
            </a:r>
            <a:r>
              <a:rPr lang="en-US" sz="1200" dirty="0">
                <a:solidFill>
                  <a:schemeClr val="tx1"/>
                </a:solidFill>
              </a:rPr>
              <a:t>: every customer has an email recorded.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IS NULL is used because = NULL never matches. TRIM also catches empty strings.</a:t>
            </a:r>
            <a:endParaRPr lang="en-US" sz="1200" dirty="0"/>
          </a:p>
        </p:txBody>
      </p:sp>
      <p:sp>
        <p:nvSpPr>
          <p:cNvPr id="16" name="Q19 card"/>
          <p:cNvSpPr/>
          <p:nvPr/>
        </p:nvSpPr>
        <p:spPr>
          <a:xfrm>
            <a:off x="4306824" y="1188720"/>
            <a:ext cx="3575304" cy="4831271"/>
          </a:xfrm>
          <a:prstGeom prst="roundRect">
            <a:avLst>
              <a:gd name="adj" fmla="val 204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17" name="Q19 badge"/>
          <p:cNvSpPr/>
          <p:nvPr/>
        </p:nvSpPr>
        <p:spPr>
          <a:xfrm>
            <a:off x="4535424" y="1444752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8" name="Q19 badge text"/>
          <p:cNvSpPr txBox="1"/>
          <p:nvPr/>
        </p:nvSpPr>
        <p:spPr>
          <a:xfrm>
            <a:off x="4535424" y="14447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Q19</a:t>
            </a:r>
            <a:endParaRPr lang="en-US" sz="1200" dirty="0"/>
          </a:p>
        </p:txBody>
      </p:sp>
      <p:sp>
        <p:nvSpPr>
          <p:cNvPr id="19" name="Q19 title"/>
          <p:cNvSpPr txBox="1"/>
          <p:nvPr/>
        </p:nvSpPr>
        <p:spPr>
          <a:xfrm>
            <a:off x="5212080" y="137160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Suppliers not in any customer city (NOT IN)</a:t>
            </a:r>
            <a:endParaRPr lang="en-US" sz="1300" dirty="0"/>
          </a:p>
        </p:txBody>
      </p:sp>
      <p:sp>
        <p:nvSpPr>
          <p:cNvPr id="20" name="Q19 code box"/>
          <p:cNvSpPr/>
          <p:nvPr/>
        </p:nvSpPr>
        <p:spPr>
          <a:xfrm>
            <a:off x="4535424" y="1965960"/>
            <a:ext cx="3118104" cy="1122883"/>
          </a:xfrm>
          <a:prstGeom prst="roundRect">
            <a:avLst>
              <a:gd name="adj" fmla="val 4886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1" name="Q19 code"/>
          <p:cNvSpPr txBox="1"/>
          <p:nvPr/>
        </p:nvSpPr>
        <p:spPr>
          <a:xfrm>
            <a:off x="4654296" y="2029968"/>
            <a:ext cx="2880360" cy="99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supplier_id, supplier_name,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Suppliers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city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city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Customers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city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22" name="label OUTPUT (EMPTY RESULT)"/>
          <p:cNvSpPr txBox="1"/>
          <p:nvPr/>
        </p:nvSpPr>
        <p:spPr>
          <a:xfrm>
            <a:off x="4535424" y="3226003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OUTPUT (EMPTY RESULT)</a:t>
            </a:r>
            <a:endParaRPr lang="en-US" sz="1000" dirty="0"/>
          </a:p>
        </p:txBody>
      </p:sp>
      <p:sp>
        <p:nvSpPr>
          <p:cNvPr id="23" name="Q19 frame"/>
          <p:cNvSpPr/>
          <p:nvPr/>
        </p:nvSpPr>
        <p:spPr>
          <a:xfrm>
            <a:off x="4535424" y="3454603"/>
            <a:ext cx="3099816" cy="73162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4" name="Q19 output" descr="Q19 output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491179"/>
            <a:ext cx="3026664" cy="658473"/>
          </a:xfrm>
          <a:prstGeom prst="rect">
            <a:avLst/>
          </a:prstGeom>
        </p:spPr>
      </p:pic>
      <p:sp>
        <p:nvSpPr>
          <p:cNvPr id="25" name="label INSIGHT"/>
          <p:cNvSpPr txBox="1"/>
          <p:nvPr/>
        </p:nvSpPr>
        <p:spPr>
          <a:xfrm>
            <a:off x="4535424" y="4323388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INSIGHT</a:t>
            </a:r>
            <a:endParaRPr lang="en-US" sz="1000" dirty="0"/>
          </a:p>
        </p:txBody>
      </p:sp>
      <p:sp>
        <p:nvSpPr>
          <p:cNvPr id="26" name="Q19 insight"/>
          <p:cNvSpPr txBox="1"/>
          <p:nvPr/>
        </p:nvSpPr>
        <p:spPr>
          <a:xfrm>
            <a:off x="4535424" y="4551988"/>
            <a:ext cx="3118104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0 rows</a:t>
            </a:r>
            <a:r>
              <a:rPr lang="en-US" sz="1200" dirty="0">
                <a:solidFill>
                  <a:schemeClr val="tx1"/>
                </a:solidFill>
              </a:rPr>
              <a:t>: every supplier city also has at least one customer.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The IS NOT NULL filter keeps NULL cities from emptying the result.</a:t>
            </a:r>
            <a:endParaRPr lang="en-US" sz="1200" dirty="0"/>
          </a:p>
        </p:txBody>
      </p:sp>
      <p:sp>
        <p:nvSpPr>
          <p:cNvPr id="27" name="Q20 card"/>
          <p:cNvSpPr/>
          <p:nvPr/>
        </p:nvSpPr>
        <p:spPr>
          <a:xfrm>
            <a:off x="8156448" y="1188720"/>
            <a:ext cx="3575304" cy="4831271"/>
          </a:xfrm>
          <a:prstGeom prst="roundRect">
            <a:avLst>
              <a:gd name="adj" fmla="val 204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B1F22">
                <a:alpha val="14000"/>
              </a:srgbClr>
            </a:outerShdw>
          </a:effectLst>
        </p:spPr>
      </p:sp>
      <p:sp>
        <p:nvSpPr>
          <p:cNvPr id="28" name="Q20 badge"/>
          <p:cNvSpPr/>
          <p:nvPr/>
        </p:nvSpPr>
        <p:spPr>
          <a:xfrm>
            <a:off x="8385048" y="1444752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9" name="Q20 badge text"/>
          <p:cNvSpPr txBox="1"/>
          <p:nvPr/>
        </p:nvSpPr>
        <p:spPr>
          <a:xfrm>
            <a:off x="8385048" y="14447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Q20</a:t>
            </a:r>
            <a:endParaRPr lang="en-US" sz="1200" dirty="0"/>
          </a:p>
        </p:txBody>
      </p:sp>
      <p:sp>
        <p:nvSpPr>
          <p:cNvPr id="30" name="Q20 title"/>
          <p:cNvSpPr txBox="1"/>
          <p:nvPr/>
        </p:nvSpPr>
        <p:spPr>
          <a:xfrm>
            <a:off x="9061704" y="137160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Latest 3 orders after skipping 2 (LIMIT + OFFSET)</a:t>
            </a:r>
            <a:endParaRPr lang="en-US" sz="1300" dirty="0"/>
          </a:p>
        </p:txBody>
      </p:sp>
      <p:sp>
        <p:nvSpPr>
          <p:cNvPr id="31" name="Q20 code box"/>
          <p:cNvSpPr/>
          <p:nvPr/>
        </p:nvSpPr>
        <p:spPr>
          <a:xfrm>
            <a:off x="8385048" y="1965960"/>
            <a:ext cx="3118104" cy="969264"/>
          </a:xfrm>
          <a:prstGeom prst="roundRect">
            <a:avLst>
              <a:gd name="adj" fmla="val 566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32" name="Q20 code"/>
          <p:cNvSpPr txBox="1"/>
          <p:nvPr/>
        </p:nvSpPr>
        <p:spPr>
          <a:xfrm>
            <a:off x="8503920" y="2029968"/>
            <a:ext cx="2880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order_date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order_id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33" name="label OUTPUT"/>
          <p:cNvSpPr txBox="1"/>
          <p:nvPr/>
        </p:nvSpPr>
        <p:spPr>
          <a:xfrm>
            <a:off x="8385048" y="3072384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OUTPUT</a:t>
            </a:r>
            <a:endParaRPr lang="en-US" sz="1000" dirty="0"/>
          </a:p>
        </p:txBody>
      </p:sp>
      <p:sp>
        <p:nvSpPr>
          <p:cNvPr id="34" name="Q20 frame"/>
          <p:cNvSpPr/>
          <p:nvPr/>
        </p:nvSpPr>
        <p:spPr>
          <a:xfrm>
            <a:off x="8385048" y="3300984"/>
            <a:ext cx="3099816" cy="81705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5" name="Q20 output" descr="Q20 output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3337560"/>
            <a:ext cx="3026664" cy="743903"/>
          </a:xfrm>
          <a:prstGeom prst="rect">
            <a:avLst/>
          </a:prstGeom>
        </p:spPr>
      </p:pic>
      <p:sp>
        <p:nvSpPr>
          <p:cNvPr id="36" name="label INSIGHT"/>
          <p:cNvSpPr txBox="1"/>
          <p:nvPr/>
        </p:nvSpPr>
        <p:spPr>
          <a:xfrm>
            <a:off x="8385048" y="4255199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INSIGHT</a:t>
            </a:r>
            <a:endParaRPr lang="en-US" sz="1000" dirty="0"/>
          </a:p>
        </p:txBody>
      </p:sp>
      <p:sp>
        <p:nvSpPr>
          <p:cNvPr id="37" name="Q20 insight"/>
          <p:cNvSpPr txBox="1"/>
          <p:nvPr/>
        </p:nvSpPr>
        <p:spPr>
          <a:xfrm>
            <a:off x="8385048" y="4483799"/>
            <a:ext cx="311810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Orders are sorted newest first and the two latest (#50, #49) are skipped.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The result is orders </a:t>
            </a:r>
            <a:r>
              <a:rPr lang="en-US" sz="1200" b="1" dirty="0">
                <a:solidFill>
                  <a:schemeClr val="tx1"/>
                </a:solidFill>
              </a:rPr>
              <a:t>#48, #47 and #46</a:t>
            </a:r>
            <a:r>
              <a:rPr lang="en-US" sz="1200" dirty="0">
                <a:solidFill>
                  <a:schemeClr val="tx1"/>
                </a:solidFill>
              </a:rPr>
              <a:t>, dated 19, 17 and 15 April 2024.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order_id is a tie-breaker, so the order stays stable when dates match.</a:t>
            </a:r>
            <a:endParaRPr lang="en-US" sz="12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Key Findings</a:t>
            </a:r>
            <a:endParaRPr lang="en-US" sz="3600" dirty="0"/>
          </a:p>
        </p:txBody>
      </p:sp>
      <p:sp>
        <p:nvSpPr>
          <p:cNvPr id="3" name="stat card 1"/>
          <p:cNvSpPr/>
          <p:nvPr/>
        </p:nvSpPr>
        <p:spPr>
          <a:xfrm>
            <a:off x="457200" y="1600200"/>
            <a:ext cx="2651760" cy="2468880"/>
          </a:xfrm>
          <a:prstGeom prst="roundRect">
            <a:avLst>
              <a:gd name="adj" fmla="val 3704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at value 1"/>
          <p:cNvSpPr txBox="1"/>
          <p:nvPr/>
        </p:nvSpPr>
        <p:spPr>
          <a:xfrm>
            <a:off x="685800" y="1828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50 orders</a:t>
            </a:r>
            <a:endParaRPr lang="en-US" sz="3200" dirty="0"/>
          </a:p>
        </p:txBody>
      </p:sp>
      <p:sp>
        <p:nvSpPr>
          <p:cNvPr id="5" name="stat label 1"/>
          <p:cNvSpPr txBox="1"/>
          <p:nvPr/>
        </p:nvSpPr>
        <p:spPr>
          <a:xfrm>
            <a:off x="685800" y="27432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from 15 customers; every customer has ordered at least once (Q2, Q4)</a:t>
            </a:r>
            <a:endParaRPr lang="en-US" sz="1500" dirty="0"/>
          </a:p>
        </p:txBody>
      </p:sp>
      <p:sp>
        <p:nvSpPr>
          <p:cNvPr id="6" name="stat card 2"/>
          <p:cNvSpPr/>
          <p:nvPr/>
        </p:nvSpPr>
        <p:spPr>
          <a:xfrm>
            <a:off x="3331159" y="1600200"/>
            <a:ext cx="2651760" cy="2468880"/>
          </a:xfrm>
          <a:prstGeom prst="roundRect">
            <a:avLst>
              <a:gd name="adj" fmla="val 3704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tat value 2"/>
          <p:cNvSpPr txBox="1"/>
          <p:nvPr/>
        </p:nvSpPr>
        <p:spPr>
          <a:xfrm>
            <a:off x="3559759" y="1828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₹7,95,987</a:t>
            </a:r>
            <a:endParaRPr lang="en-US" sz="3200" dirty="0"/>
          </a:p>
        </p:txBody>
      </p:sp>
      <p:sp>
        <p:nvSpPr>
          <p:cNvPr id="8" name="stat label 2"/>
          <p:cNvSpPr txBox="1"/>
          <p:nvPr/>
        </p:nvSpPr>
        <p:spPr>
          <a:xfrm>
            <a:off x="3559759" y="27432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in sales for Croma Electronics, about half of all supplier sales (Q7)</a:t>
            </a:r>
            <a:endParaRPr lang="en-US" sz="1500" dirty="0"/>
          </a:p>
        </p:txBody>
      </p:sp>
      <p:sp>
        <p:nvSpPr>
          <p:cNvPr id="9" name="stat card 3"/>
          <p:cNvSpPr/>
          <p:nvPr/>
        </p:nvSpPr>
        <p:spPr>
          <a:xfrm>
            <a:off x="6205118" y="1600200"/>
            <a:ext cx="2651760" cy="2468880"/>
          </a:xfrm>
          <a:prstGeom prst="roundRect">
            <a:avLst>
              <a:gd name="adj" fmla="val 3704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tat value 3"/>
          <p:cNvSpPr txBox="1"/>
          <p:nvPr/>
        </p:nvSpPr>
        <p:spPr>
          <a:xfrm>
            <a:off x="6433718" y="1828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₹2,59,996</a:t>
            </a:r>
            <a:endParaRPr lang="en-US" sz="3200" dirty="0"/>
          </a:p>
        </p:txBody>
      </p:sp>
      <p:sp>
        <p:nvSpPr>
          <p:cNvPr id="11" name="stat label 3"/>
          <p:cNvSpPr txBox="1"/>
          <p:nvPr/>
        </p:nvSpPr>
        <p:spPr>
          <a:xfrm>
            <a:off x="6433718" y="27432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spent by the top customer, Ritika Gupta (Q9)</a:t>
            </a:r>
            <a:endParaRPr lang="en-US" sz="1500" dirty="0"/>
          </a:p>
        </p:txBody>
      </p:sp>
      <p:sp>
        <p:nvSpPr>
          <p:cNvPr id="12" name="stat card 4"/>
          <p:cNvSpPr/>
          <p:nvPr/>
        </p:nvSpPr>
        <p:spPr>
          <a:xfrm>
            <a:off x="9079078" y="1600200"/>
            <a:ext cx="2651760" cy="2468880"/>
          </a:xfrm>
          <a:prstGeom prst="roundRect">
            <a:avLst>
              <a:gd name="adj" fmla="val 3704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tat value 4"/>
          <p:cNvSpPr txBox="1"/>
          <p:nvPr/>
        </p:nvSpPr>
        <p:spPr>
          <a:xfrm>
            <a:off x="9307678" y="1828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23 of 50</a:t>
            </a:r>
            <a:endParaRPr lang="en-US" sz="3200" dirty="0"/>
          </a:p>
        </p:txBody>
      </p:sp>
      <p:sp>
        <p:nvSpPr>
          <p:cNvPr id="14" name="stat label 4"/>
          <p:cNvSpPr txBox="1"/>
          <p:nvPr/>
        </p:nvSpPr>
        <p:spPr>
          <a:xfrm>
            <a:off x="9307678" y="27432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orders were paid with Cash, Debit Card or Net Banking instead of UPI or Credit Card (Q17)</a:t>
            </a:r>
            <a:endParaRPr lang="en-US" sz="1500" dirty="0"/>
          </a:p>
        </p:txBody>
      </p:sp>
      <p:sp>
        <p:nvSpPr>
          <p:cNvPr id="15" name="empty results heading"/>
          <p:cNvSpPr txBox="1"/>
          <p:nvPr/>
        </p:nvSpPr>
        <p:spPr>
          <a:xfrm>
            <a:off x="457200" y="4526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Empty results</a:t>
            </a:r>
            <a:endParaRPr lang="en-US" sz="1800" dirty="0"/>
          </a:p>
        </p:txBody>
      </p:sp>
      <p:sp>
        <p:nvSpPr>
          <p:cNvPr id="16" name="empty results note"/>
          <p:cNvSpPr txBox="1"/>
          <p:nvPr/>
        </p:nvSpPr>
        <p:spPr>
          <a:xfrm>
            <a:off x="457200" y="4937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Q5, Q12, Q14, Q18 and Q19 return 0 rows. The queries are correct; the data simply has no matching records.</a:t>
            </a:r>
            <a:endParaRPr lang="en-US" sz="1600" dirty="0"/>
          </a:p>
        </p:txBody>
      </p:sp>
      <p:sp>
        <p:nvSpPr>
          <p:cNvPr id="17" name="thank you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ailDB Teal">
  <a:themeElements>
    <a:clrScheme name="RetailDB Teal">
      <a:dk1>
        <a:srgbClr val="13262B"/>
      </a:dk1>
      <a:lt1>
        <a:srgbClr val="FFFFFF"/>
      </a:lt1>
      <a:dk2>
        <a:srgbClr val="0E4F52"/>
      </a:dk2>
      <a:lt2>
        <a:srgbClr val="EDF3F3"/>
      </a:lt2>
      <a:accent1>
        <a:srgbClr val="0E7C7B"/>
      </a:accent1>
      <a:accent2>
        <a:srgbClr val="F2B84B"/>
      </a:accent2>
      <a:accent3>
        <a:srgbClr val="7CC9C6"/>
      </a:accent3>
      <a:accent4>
        <a:srgbClr val="9BD7A5"/>
      </a:accent4>
      <a:accent5>
        <a:srgbClr val="4A5F63"/>
      </a:accent5>
      <a:accent6>
        <a:srgbClr val="C5D3D3"/>
      </a:accent6>
      <a:hlink>
        <a:srgbClr val="0E7C7B"/>
      </a:hlink>
      <a:folHlink>
        <a:srgbClr val="4A5F63"/>
      </a:folHlink>
    </a:clrScheme>
    <a:fontScheme name="RetailDB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2861</Words>
  <Application>Microsoft Office PowerPoint</Application>
  <PresentationFormat>Widescreen</PresentationFormat>
  <Paragraphs>392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RetailDB Teal</vt:lpstr>
      <vt:lpstr>PowerPoint Presentation</vt:lpstr>
      <vt:lpstr>SQL Assignment – Medium</vt:lpstr>
      <vt:lpstr>Database Schema</vt:lpstr>
      <vt:lpstr>Q1 &amp; Q3 – INNER and RIGHT JOIN</vt:lpstr>
      <vt:lpstr>Q2 – LEFT JOIN</vt:lpstr>
      <vt:lpstr>Q4 – FULL OUTER JOIN Simulation</vt:lpstr>
      <vt:lpstr>Q5 – Joins with Filters</vt:lpstr>
      <vt:lpstr>Q6 &amp; Q7 – Order Counts and Supplier Sales</vt:lpstr>
      <vt:lpstr>Q8 &amp; Q9 – Category Prices and Top Spenders</vt:lpstr>
      <vt:lpstr>Q10 – Unique Products per Customer</vt:lpstr>
      <vt:lpstr>Q11 – Orders Above the Average</vt:lpstr>
      <vt:lpstr>Q12 &amp; Q13 – Subqueries with NOT IN and IN</vt:lpstr>
      <vt:lpstr>Q14 &amp; Q15 – Nested Subquery and MAX()</vt:lpstr>
      <vt:lpstr>Q16 – The IN Operator</vt:lpstr>
      <vt:lpstr>Q17 – The NOT IN Operator</vt:lpstr>
      <vt:lpstr>Q18, Q19 &amp; Q20 – IS NULL, NOT IN and OFFSET</vt:lpstr>
      <vt:lpstr>Key Findings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Assignment - Medium (RetailDB_2)</dc:title>
  <dc:subject>SQL queries, outputs and insights</dc:subject>
  <dc:creator>PptxGenJS</dc:creator>
  <cp:lastModifiedBy>saurabh shukla</cp:lastModifiedBy>
  <cp:revision>2</cp:revision>
  <dcterms:created xsi:type="dcterms:W3CDTF">2026-10-20T04:46:22Z</dcterms:created>
  <dcterms:modified xsi:type="dcterms:W3CDTF">2026-10-20T05:04:13Z</dcterms:modified>
</cp:coreProperties>
</file>